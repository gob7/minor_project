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0"/>
  </p:notesMasterIdLst>
  <p:sldIdLst>
    <p:sldId id="268" r:id="rId2"/>
    <p:sldId id="277" r:id="rId3"/>
    <p:sldId id="279" r:id="rId4"/>
    <p:sldId id="280" r:id="rId5"/>
    <p:sldId id="285" r:id="rId6"/>
    <p:sldId id="287" r:id="rId7"/>
    <p:sldId id="288" r:id="rId8"/>
    <p:sldId id="289" r:id="rId9"/>
    <p:sldId id="305" r:id="rId10"/>
    <p:sldId id="286" r:id="rId11"/>
    <p:sldId id="302" r:id="rId12"/>
    <p:sldId id="291" r:id="rId13"/>
    <p:sldId id="299" r:id="rId14"/>
    <p:sldId id="295" r:id="rId15"/>
    <p:sldId id="300" r:id="rId16"/>
    <p:sldId id="301" r:id="rId17"/>
    <p:sldId id="296" r:id="rId18"/>
    <p:sldId id="297" r:id="rId19"/>
    <p:sldId id="303" r:id="rId20"/>
    <p:sldId id="293" r:id="rId21"/>
    <p:sldId id="292" r:id="rId22"/>
    <p:sldId id="263" r:id="rId23"/>
    <p:sldId id="304" r:id="rId24"/>
    <p:sldId id="283" r:id="rId25"/>
    <p:sldId id="284" r:id="rId26"/>
    <p:sldId id="282" r:id="rId27"/>
    <p:sldId id="275" r:id="rId28"/>
    <p:sldId id="27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3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036D8-99B2-4CDE-9937-AF80A827C4EA}" type="datetimeFigureOut">
              <a:rPr lang="en-US" smtClean="0"/>
              <a:t>13-May-25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F3B0D-3F38-4F4D-8800-F47831F46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2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1ABDF-166F-4A0D-99A2-48050B835F81}" type="datetime1">
              <a:rPr lang="en-US" smtClean="0"/>
              <a:t>13-May-25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83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E598-7170-416E-85D2-F0B58A962885}" type="datetime1">
              <a:rPr lang="en-US" smtClean="0"/>
              <a:t>13-May-25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33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EEF7-4FF5-4765-B91D-22F31E45923E}" type="datetime1">
              <a:rPr lang="en-US" smtClean="0"/>
              <a:t>13-May-25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04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F5ED9-A785-4C2A-881D-411F6D2F1CA5}" type="datetime1">
              <a:rPr lang="en-US" smtClean="0"/>
              <a:t>13-May-25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91847-AF94-4B6C-A0A7-A9EC9D107D2E}" type="datetime1">
              <a:rPr lang="en-US" smtClean="0"/>
              <a:t>13-May-25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60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35E95-B783-4F68-B1D1-2A97D40DE65A}" type="datetime1">
              <a:rPr lang="en-US" smtClean="0"/>
              <a:t>13-May-25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5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D8D2A-8C4F-4FEF-B08A-8F243E39A2D2}" type="datetime1">
              <a:rPr lang="en-US" smtClean="0"/>
              <a:t>13-May-25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4ECED53-140E-45B5-97DC-3F1AF5CBDAB0}" type="datetime1">
              <a:rPr lang="en-US" smtClean="0"/>
              <a:t>13-May-25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3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FDA49-7555-43A0-A459-5DAB49B96709}" type="datetime1">
              <a:rPr lang="en-US" smtClean="0"/>
              <a:t>13-May-25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4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1D8B-B6B4-4823-9B36-5AEAE88B0C18}" type="datetime1">
              <a:rPr lang="en-US" smtClean="0"/>
              <a:t>13-May-25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80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30A0D-AB10-4CB1-AC73-085FF966EC4B}" type="datetime1">
              <a:rPr lang="en-US" smtClean="0"/>
              <a:t>13-May-25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9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812F3E6-2031-4D71-ABF6-F07C5A086FB0}" type="datetime1">
              <a:rPr lang="en-US" smtClean="0"/>
              <a:t>13-May-25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C60962B-441E-4626-82B0-AA27AD68701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36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F4D2B2-9EDA-12FB-869D-B3F314FFF939}"/>
              </a:ext>
            </a:extLst>
          </p:cNvPr>
          <p:cNvSpPr txBox="1"/>
          <p:nvPr/>
        </p:nvSpPr>
        <p:spPr>
          <a:xfrm>
            <a:off x="289249" y="435864"/>
            <a:ext cx="116259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Multi-Layer Perceptron Based Health </a:t>
            </a:r>
          </a:p>
          <a:p>
            <a:pPr algn="ctr"/>
            <a:r>
              <a:rPr lang="en-US" sz="4000" dirty="0"/>
              <a:t>Risk Prediction for Lung and Other Diseases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C36DC7-0B67-56E7-4C00-AEFB10983B7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04483" y="1804687"/>
            <a:ext cx="2035175" cy="24085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E4CE8A-78FB-FDC7-5271-38722736EBC0}"/>
              </a:ext>
            </a:extLst>
          </p:cNvPr>
          <p:cNvSpPr txBox="1"/>
          <p:nvPr/>
        </p:nvSpPr>
        <p:spPr>
          <a:xfrm>
            <a:off x="484012" y="2316391"/>
            <a:ext cx="3938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Guided By:</a:t>
            </a:r>
          </a:p>
          <a:p>
            <a:pPr algn="ctr"/>
            <a:r>
              <a:rPr lang="en-US" sz="2400" dirty="0"/>
              <a:t>Mr. Suresh Kumar </a:t>
            </a:r>
            <a:r>
              <a:rPr lang="en-US" sz="2400" dirty="0" err="1"/>
              <a:t>Srichandan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5B4F4-7A44-640A-D8B6-B0D751430D1D}"/>
              </a:ext>
            </a:extLst>
          </p:cNvPr>
          <p:cNvSpPr txBox="1"/>
          <p:nvPr/>
        </p:nvSpPr>
        <p:spPr>
          <a:xfrm>
            <a:off x="7305869" y="2181440"/>
            <a:ext cx="4812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Presented By:</a:t>
            </a:r>
          </a:p>
          <a:p>
            <a:pPr algn="ctr"/>
            <a:r>
              <a:rPr lang="en-US" sz="2400" dirty="0"/>
              <a:t>Gobinda Panda (2102040002)</a:t>
            </a:r>
          </a:p>
          <a:p>
            <a:pPr algn="ctr"/>
            <a:r>
              <a:rPr lang="en-US" sz="2400" dirty="0"/>
              <a:t>Sugyani Manjari Dash (2102081031)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9AEC1-C2FA-3184-2D6C-9CDF685DCC65}"/>
              </a:ext>
            </a:extLst>
          </p:cNvPr>
          <p:cNvSpPr txBox="1"/>
          <p:nvPr/>
        </p:nvSpPr>
        <p:spPr>
          <a:xfrm>
            <a:off x="2231114" y="4494632"/>
            <a:ext cx="6981912" cy="19651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DEPARTMENT OF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COMPUTER SCIENCE AND ENGINEERING,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VEER SURENDRA SAI UNIVERSITY OF TECHNOLOGY,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BURLA, SAMBALPUR – 7682018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[202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20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]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02A59-D0B5-4136-B849-0D47C9A19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5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F978-6D30-C1F0-2132-2C442465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39CFF-688E-3AE4-82B7-C218BA321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81810" algn="l"/>
              </a:tabLst>
            </a:pP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Introduction</a:t>
            </a: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86890" algn="l"/>
              </a:tabLst>
            </a:pPr>
            <a:r>
              <a:rPr lang="en-US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Literature</a:t>
            </a:r>
            <a:r>
              <a:rPr lang="en-US" sz="2400" spc="3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86890" algn="l"/>
              </a:tabLst>
            </a:pPr>
            <a:r>
              <a:rPr lang="en-US" sz="24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Methodology</a:t>
            </a: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86890" algn="l"/>
              </a:tabLst>
            </a:pP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Implementation</a:t>
            </a: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86890" algn="l"/>
              </a:tabLst>
            </a:pPr>
            <a:r>
              <a:rPr lang="en-US" sz="24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Result</a:t>
            </a:r>
            <a:endParaRPr lang="en-US" sz="24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79270" algn="l"/>
              </a:tabLst>
            </a:pPr>
            <a:r>
              <a:rPr lang="en-US" sz="24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79270" algn="l"/>
              </a:tabLs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Future Scope</a:t>
            </a:r>
            <a:endParaRPr lang="en-US" sz="24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600"/>
              </a:spcBef>
              <a:buFont typeface="Times New Roman" panose="02020603050405020304" pitchFamily="18" charset="0"/>
              <a:buChar char="•"/>
              <a:tabLst>
                <a:tab pos="1785620" algn="l"/>
              </a:tabLst>
            </a:pPr>
            <a:r>
              <a:rPr lang="en-US" sz="24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References</a:t>
            </a:r>
            <a:endParaRPr lang="en-US" sz="24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7A89D-1C95-31B5-938A-73239448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1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2836-C01D-85FC-BFE0-15A20D75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6C356-60A3-2562-0FDA-8CAB90C08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686075" cy="4023360"/>
          </a:xfrm>
        </p:spPr>
        <p:txBody>
          <a:bodyPr/>
          <a:lstStyle/>
          <a:p>
            <a:pPr>
              <a:buNone/>
            </a:pPr>
            <a:r>
              <a:rPr lang="en-US" dirty="0"/>
              <a:t> 	The rising burden of lung cancer, heart disease, and mental disorders is worsened by pollution, smoking, and stress.</a:t>
            </a:r>
          </a:p>
          <a:p>
            <a:pPr>
              <a:buNone/>
            </a:pPr>
            <a:r>
              <a:rPr lang="en-US" dirty="0"/>
              <a:t> 	Early diagnosis is critical, yet traditional methods are slow, costly, and invasive.</a:t>
            </a:r>
          </a:p>
          <a:p>
            <a:pPr>
              <a:buNone/>
            </a:pPr>
            <a:r>
              <a:rPr lang="en-US" dirty="0"/>
              <a:t> 	This study uses ML and deep learning on structured health data like smoking, anxiety, and fatigue for faster, non-invasive predictions.</a:t>
            </a:r>
          </a:p>
          <a:p>
            <a:r>
              <a:rPr lang="en-US" dirty="0"/>
              <a:t>Models applied include Random Forest, MLP, and LSTM, enhanced by feature engineering to improve accuracy and interpretability.</a:t>
            </a:r>
          </a:p>
          <a:p>
            <a:pPr algn="just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2C7D0B-0462-A094-7C15-648941BC4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959" y="2359130"/>
            <a:ext cx="4379704" cy="299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1FAD3-4223-4697-0C10-5CEEE265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5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18F9-559E-D106-0C4C-B8DFB2E5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66109E-66BD-A369-8837-DB2DEFCA5F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1752801"/>
              </p:ext>
            </p:extLst>
          </p:nvPr>
        </p:nvGraphicFramePr>
        <p:xfrm>
          <a:off x="900113" y="1846263"/>
          <a:ext cx="10601325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637">
                  <a:extLst>
                    <a:ext uri="{9D8B030D-6E8A-4147-A177-3AD203B41FA5}">
                      <a16:colId xmlns:a16="http://schemas.microsoft.com/office/drawing/2014/main" val="2857272427"/>
                    </a:ext>
                  </a:extLst>
                </a:gridCol>
                <a:gridCol w="1890283">
                  <a:extLst>
                    <a:ext uri="{9D8B030D-6E8A-4147-A177-3AD203B41FA5}">
                      <a16:colId xmlns:a16="http://schemas.microsoft.com/office/drawing/2014/main" val="3792229614"/>
                    </a:ext>
                  </a:extLst>
                </a:gridCol>
                <a:gridCol w="757526">
                  <a:extLst>
                    <a:ext uri="{9D8B030D-6E8A-4147-A177-3AD203B41FA5}">
                      <a16:colId xmlns:a16="http://schemas.microsoft.com/office/drawing/2014/main" val="2909716090"/>
                    </a:ext>
                  </a:extLst>
                </a:gridCol>
                <a:gridCol w="7424879">
                  <a:extLst>
                    <a:ext uri="{9D8B030D-6E8A-4147-A177-3AD203B41FA5}">
                      <a16:colId xmlns:a16="http://schemas.microsoft.com/office/drawing/2014/main" val="4169303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Sl.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02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Sharma &amp; Goyal</a:t>
                      </a:r>
                      <a:endParaRPr lang="da-DK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Demonstrated SVM &amp; Random Forest effectiveness in early lung cancer detection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720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Rahman &amp; Muniyandi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Compared data mining techniques for lung cancer prediction from structured records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66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Choudhury &amp; Gupta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Reviewed ML-based lung cancer detection, highlighting feature engineering improvements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223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Mohan et al.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Achieved high heart disease prediction accuracy using hybrid ML techniques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035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Dwivedi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Found ensemble methods (RF,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effective for heart disease prediction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903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Chen &amp; </a:t>
                      </a:r>
                      <a:r>
                        <a:rPr lang="en-US" dirty="0" err="1">
                          <a:effectLst/>
                        </a:rPr>
                        <a:t>Guestrin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Developed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scalable, high-performance algorithm for classification tasks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94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Haraty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Zantout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Applied ML algorithms to predict mental health issues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45061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972259-9958-7FD7-3482-2262131D1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6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10A2-C640-88C9-FDA5-0A7FF2E0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AA5B6-7937-3E74-50B2-B4DC8A1CF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5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ABB5DD-C72E-9F23-3D7B-DEE5EA7CC035}"/>
              </a:ext>
            </a:extLst>
          </p:cNvPr>
          <p:cNvSpPr txBox="1">
            <a:spLocks/>
          </p:cNvSpPr>
          <p:nvPr/>
        </p:nvSpPr>
        <p:spPr>
          <a:xfrm>
            <a:off x="1066800" y="1894113"/>
            <a:ext cx="10058400" cy="2057029"/>
          </a:xfrm>
          <a:prstGeom prst="rect">
            <a:avLst/>
          </a:prstGeom>
        </p:spPr>
        <p:txBody>
          <a:bodyPr vert="horz" lIns="0" tIns="45720" rIns="0" bIns="45720" numCol="1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 Data Preparation Overview</a:t>
            </a:r>
            <a:endParaRPr lang="en-US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/>
              <a:t>	</a:t>
            </a:r>
            <a:r>
              <a:rPr lang="en-US" sz="1800" b="1" dirty="0"/>
              <a:t>1. Synthetic Data		</a:t>
            </a:r>
            <a:r>
              <a:rPr lang="en-US" sz="1800" dirty="0"/>
              <a:t>: 	Added some new rows to the dataset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/>
              <a:t> 	</a:t>
            </a:r>
            <a:r>
              <a:rPr lang="en-US" sz="1800" b="1" dirty="0"/>
              <a:t>2.</a:t>
            </a:r>
            <a:r>
              <a:rPr lang="en-US" sz="1800" dirty="0"/>
              <a:t> </a:t>
            </a:r>
            <a:r>
              <a:rPr lang="en-US" sz="1800" b="1" dirty="0"/>
              <a:t>Preprocessing Steps	</a:t>
            </a:r>
            <a:r>
              <a:rPr lang="en-US" sz="1800" dirty="0"/>
              <a:t>: 	Label encoding (e.g., gender, disease status) 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		 	Binary feature standardization (0 = No, 1 = Yes)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 Initial Dataset: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15555B5-70C9-CCE5-CC58-C5850CA26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660776"/>
              </p:ext>
            </p:extLst>
          </p:nvPr>
        </p:nvGraphicFramePr>
        <p:xfrm>
          <a:off x="1097283" y="4045387"/>
          <a:ext cx="10115200" cy="2150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200">
                  <a:extLst>
                    <a:ext uri="{9D8B030D-6E8A-4147-A177-3AD203B41FA5}">
                      <a16:colId xmlns:a16="http://schemas.microsoft.com/office/drawing/2014/main" val="743692810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93733960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1530936594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4289805200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1457549010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708732624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1895951786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3758557702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5451824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2502320642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3198731538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1626343224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2263586854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3230747210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132612501"/>
                    </a:ext>
                  </a:extLst>
                </a:gridCol>
                <a:gridCol w="632200">
                  <a:extLst>
                    <a:ext uri="{9D8B030D-6E8A-4147-A177-3AD203B41FA5}">
                      <a16:colId xmlns:a16="http://schemas.microsoft.com/office/drawing/2014/main" val="1280213887"/>
                    </a:ext>
                  </a:extLst>
                </a:gridCol>
              </a:tblGrid>
              <a:tr h="11080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GENDER</a:t>
                      </a:r>
                      <a:endParaRPr lang="en-US" sz="20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SMOKING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YELLOW_FINGERS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ANXIETY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PEER_PRESSURE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CHRONIC DISEASE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FATIGUE 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ALLERGY 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WHEEZING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ALCOHOL CONSUMING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COUGHING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SHORTNESS OF BREATH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SWALLOWING DIFFICULTY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CHEST PAIN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LUNG_CANCER</a:t>
                      </a:r>
                      <a:endParaRPr lang="en-US" sz="20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9227441"/>
                  </a:ext>
                </a:extLst>
              </a:tr>
              <a:tr h="3826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</a:t>
                      </a:r>
                      <a:endParaRPr lang="en-US" sz="28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69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28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5463011"/>
                  </a:ext>
                </a:extLst>
              </a:tr>
              <a:tr h="3481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</a:t>
                      </a:r>
                      <a:endParaRPr lang="en-US" sz="28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74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  <a:endParaRPr lang="en-US" sz="28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4629232"/>
                  </a:ext>
                </a:extLst>
              </a:tr>
              <a:tr h="3112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</a:t>
                      </a:r>
                      <a:endParaRPr lang="en-US" sz="28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28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9920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41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920BB-4632-F7F8-117C-8B6614141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Multilayer Perceptron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923D2-0DE9-2AB9-7BAA-E435464EB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376" y="1996751"/>
            <a:ext cx="6167534" cy="387234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Structure:</a:t>
            </a:r>
            <a:r>
              <a:rPr lang="en-US" dirty="0"/>
              <a:t> Input layer receives data; multiple hidden layers process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Neurons:</a:t>
            </a:r>
            <a:r>
              <a:rPr lang="en-US" dirty="0"/>
              <a:t> Nodes connect fully between layers, passing weighted signals.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Activation Function:</a:t>
            </a:r>
            <a:r>
              <a:rPr lang="en-US" dirty="0"/>
              <a:t> </a:t>
            </a:r>
            <a:r>
              <a:rPr lang="en-US" dirty="0" err="1"/>
              <a:t>ReLU</a:t>
            </a:r>
            <a:r>
              <a:rPr lang="en-US" dirty="0"/>
              <a:t> (Rectified Linear Unit) activation avoids training issues and speeds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Learning:</a:t>
            </a:r>
            <a:r>
              <a:rPr lang="en-US" dirty="0"/>
              <a:t> Backpropagation adjusts weights, minimizing prediction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Optimization:</a:t>
            </a:r>
            <a:r>
              <a:rPr lang="en-US" dirty="0"/>
              <a:t> Adam optimizer enhances accuracy during training.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1309F-4A9F-52C7-2D9F-1E73DEC3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005550-75A1-B112-9A69-BC40711DA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74" y="2715208"/>
            <a:ext cx="4280209" cy="2053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400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506D-E340-C545-420D-6BFD826C1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B610-3A7F-C449-7342-EB670B28E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737361"/>
            <a:ext cx="9082419" cy="4476828"/>
          </a:xfrm>
        </p:spPr>
        <p:txBody>
          <a:bodyPr>
            <a:normAutofit fontScale="85000" lnSpcReduction="10000"/>
          </a:bodyPr>
          <a:lstStyle/>
          <a:p>
            <a:pPr marL="342900" marR="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Preparation: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Isolate features (X) by removing the 'LUNG_CANCER' column.</a:t>
            </a:r>
          </a:p>
          <a:p>
            <a:pPr marL="742950" marR="0" lvl="1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Define the target (y) as the 'LUNG_CANCER' column.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Preprocess Features &amp; Target: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Convert text-based categories in features (X) to numeric labels.</a:t>
            </a:r>
          </a:p>
          <a:p>
            <a:pPr marL="742950" marR="0" lvl="1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If the target (y) contains text labels, convert them to numeric values.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Split Data:</a:t>
            </a:r>
            <a:r>
              <a:rPr lang="en-US" sz="1800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Divide the dataset into 80% training and 20% testing subsets.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Normalize Features: 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Scale training and testing data to ensure features have consistent ranges.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Build MLP Model: 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Create a neural network with:</a:t>
            </a:r>
          </a:p>
          <a:p>
            <a:pPr marL="1143000" marR="0" lvl="2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100 neurons in the first hidden layer, 50 in the second.</a:t>
            </a:r>
          </a:p>
          <a:p>
            <a:pPr marL="1143000" marR="0" lvl="2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8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ReLU</a:t>
            </a: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activation for nonlinearity.</a:t>
            </a:r>
          </a:p>
          <a:p>
            <a:pPr marL="1143000" marR="0" lvl="2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Adam optimizer for weight adjustments.</a:t>
            </a:r>
          </a:p>
          <a:p>
            <a:pPr marL="1143000" marR="0" lvl="2" indent="-228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Wingdings" panose="05000000000000000000" pitchFamily="2" charset="2"/>
              <a:buChar char=""/>
              <a:tabLst>
                <a:tab pos="1371600" algn="l"/>
              </a:tabLst>
            </a:pPr>
            <a:r>
              <a:rPr lang="en-US" sz="18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Early stopping to halt training if no improvement (10% validation subset).</a:t>
            </a:r>
          </a:p>
          <a:p>
            <a:pPr>
              <a:spcAft>
                <a:spcPts val="0"/>
              </a:spcAft>
            </a:pP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22260-10B4-2A4E-F63F-6A88DEE5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80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F4B1-D704-DF3A-1BAB-7064AF37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Flowchart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8F59A-DFF0-A605-47E4-B61278108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450757"/>
          </a:xfrm>
        </p:spPr>
        <p:txBody>
          <a:bodyPr>
            <a:normAutofit/>
          </a:bodyPr>
          <a:lstStyle/>
          <a:p>
            <a:pPr marL="0" marR="0" lvl="0" indent="0" algn="just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None/>
              <a:tabLst>
                <a:tab pos="457200" algn="l"/>
              </a:tabLst>
            </a:pPr>
            <a:r>
              <a:rPr lang="en-US" sz="1500" b="1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6. </a:t>
            </a:r>
            <a:r>
              <a:rPr lang="en-US" sz="15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Train &amp; Predict:</a:t>
            </a:r>
            <a:endParaRPr lang="en-US" sz="15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5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Fit the model to the training data.</a:t>
            </a:r>
          </a:p>
          <a:p>
            <a:pPr marL="742950" marR="0" lvl="1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5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Use the trained model to predict outcomes for the test 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EE0F7-B450-E4E6-2073-F808004B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26A352-15E2-6313-B1FE-4C43E331B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26" y="3561510"/>
            <a:ext cx="11840547" cy="246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3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8C28-9AAB-1A11-8784-5388E8AE6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Random Forest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90B20-E4A3-F25D-5987-E73DDAB6F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13685"/>
            <a:ext cx="5863357" cy="401389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Ensemble Learning:</a:t>
            </a:r>
            <a:r>
              <a:rPr lang="en-US" dirty="0"/>
              <a:t> Combines multiple decision trees to improve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Randomness:</a:t>
            </a:r>
            <a:r>
              <a:rPr lang="en-US" dirty="0"/>
              <a:t> Uses random data subsets and feature splits to reduce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Voting Mechanism:</a:t>
            </a:r>
            <a:r>
              <a:rPr lang="en-US" dirty="0"/>
              <a:t> Trees vote for classification or average regression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Versatility:</a:t>
            </a:r>
            <a:r>
              <a:rPr lang="en-US" dirty="0"/>
              <a:t> Handles high-dimensional, numeric, and categorical data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Feature Importance:</a:t>
            </a:r>
            <a:r>
              <a:rPr lang="en-US" dirty="0"/>
              <a:t> Identifies key predictors without extensive preprocessing.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91F16-A931-13BB-A64B-3466DE04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56B219-60BC-0CF8-48A4-26A0E62E8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911" y="2157094"/>
            <a:ext cx="4052572" cy="257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41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AC3F-A0E5-EB1B-79FD-49EF11C6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5C82065-AE1C-5034-146E-DE13DA46F8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790533"/>
              </p:ext>
            </p:extLst>
          </p:nvPr>
        </p:nvGraphicFramePr>
        <p:xfrm>
          <a:off x="2548190" y="4156012"/>
          <a:ext cx="715658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80664">
                  <a:extLst>
                    <a:ext uri="{9D8B030D-6E8A-4147-A177-3AD203B41FA5}">
                      <a16:colId xmlns:a16="http://schemas.microsoft.com/office/drawing/2014/main" val="345440537"/>
                    </a:ext>
                  </a:extLst>
                </a:gridCol>
                <a:gridCol w="4575916">
                  <a:extLst>
                    <a:ext uri="{9D8B030D-6E8A-4147-A177-3AD203B41FA5}">
                      <a16:colId xmlns:a16="http://schemas.microsoft.com/office/drawing/2014/main" val="42546811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Metric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Formula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38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(TP + TN) / (TP + TN + FP + 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77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TP / (TP + FP)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088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Recall (Sensitivity)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TP / (TP + 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452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 * (Precision * Recall) / (Precision + Recall)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6126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1999B-BD3C-AAA3-2983-13FDFB7C6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BAB30E-49AF-1F5A-2B0F-7772255F5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472170"/>
              </p:ext>
            </p:extLst>
          </p:nvPr>
        </p:nvGraphicFramePr>
        <p:xfrm>
          <a:off x="2062481" y="1900426"/>
          <a:ext cx="8331822" cy="2106392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777274">
                  <a:extLst>
                    <a:ext uri="{9D8B030D-6E8A-4147-A177-3AD203B41FA5}">
                      <a16:colId xmlns:a16="http://schemas.microsoft.com/office/drawing/2014/main" val="2300107115"/>
                    </a:ext>
                  </a:extLst>
                </a:gridCol>
                <a:gridCol w="2777274">
                  <a:extLst>
                    <a:ext uri="{9D8B030D-6E8A-4147-A177-3AD203B41FA5}">
                      <a16:colId xmlns:a16="http://schemas.microsoft.com/office/drawing/2014/main" val="1263350122"/>
                    </a:ext>
                  </a:extLst>
                </a:gridCol>
                <a:gridCol w="2777274">
                  <a:extLst>
                    <a:ext uri="{9D8B030D-6E8A-4147-A177-3AD203B41FA5}">
                      <a16:colId xmlns:a16="http://schemas.microsoft.com/office/drawing/2014/main" val="1409206846"/>
                    </a:ext>
                  </a:extLst>
                </a:gridCol>
              </a:tblGrid>
              <a:tr h="41719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Predicted Negative (0)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Predicted Positive (1)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4687470"/>
                  </a:ext>
                </a:extLst>
              </a:tr>
              <a:tr h="77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Actual Negative (0)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 Negative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(TN): </a:t>
                      </a:r>
                    </a:p>
                    <a:p>
                      <a:pPr>
                        <a:buNone/>
                      </a:pPr>
                      <a:r>
                        <a:rPr lang="en-US" i="1" dirty="0"/>
                        <a:t>Correct negative predictions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False Positive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(FP):</a:t>
                      </a:r>
                    </a:p>
                    <a:p>
                      <a:pPr>
                        <a:buNone/>
                      </a:pPr>
                      <a:r>
                        <a:rPr lang="en-US" i="1" dirty="0"/>
                        <a:t>Incorrect positive predictions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497801"/>
                  </a:ext>
                </a:extLst>
              </a:tr>
              <a:tr h="774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Actual Positive (1)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False Negative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(FN): </a:t>
                      </a:r>
                    </a:p>
                    <a:p>
                      <a:pPr>
                        <a:buNone/>
                      </a:pPr>
                      <a:r>
                        <a:rPr lang="en-US" i="1" dirty="0"/>
                        <a:t>Missed positive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True Positive 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(TP): </a:t>
                      </a:r>
                    </a:p>
                    <a:p>
                      <a:pPr>
                        <a:buNone/>
                      </a:pPr>
                      <a:r>
                        <a:rPr lang="en-US" i="1" dirty="0"/>
                        <a:t>Correct positive predictions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914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45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A909-2095-6FE7-1689-3AF0A75F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2534F-A6F2-B448-955A-D700151A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Lung Cancer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EB5A6-6666-86F2-DDB1-2FCCE730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1481A6A-5E6A-2D52-03BE-5490E3377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47288"/>
              </p:ext>
            </p:extLst>
          </p:nvPr>
        </p:nvGraphicFramePr>
        <p:xfrm>
          <a:off x="1097280" y="3685593"/>
          <a:ext cx="10239400" cy="2544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70">
                  <a:extLst>
                    <a:ext uri="{9D8B030D-6E8A-4147-A177-3AD203B41FA5}">
                      <a16:colId xmlns:a16="http://schemas.microsoft.com/office/drawing/2014/main" val="743692810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93733960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1530936594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2833513751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1417140336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4289805200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1457549010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708732624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1895951786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3758557702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5451824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2502320642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3198731538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1626343224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2263586854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3230747210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132612501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1280213887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4212048621"/>
                    </a:ext>
                  </a:extLst>
                </a:gridCol>
                <a:gridCol w="511970">
                  <a:extLst>
                    <a:ext uri="{9D8B030D-6E8A-4147-A177-3AD203B41FA5}">
                      <a16:colId xmlns:a16="http://schemas.microsoft.com/office/drawing/2014/main" val="4116149691"/>
                    </a:ext>
                  </a:extLst>
                </a:gridCol>
              </a:tblGrid>
              <a:tr h="1422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GENDER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SMOKING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YELLOW_FINGERS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ANXIETY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PEER_PRESSURE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CHRONIC DISEASE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FATIGUE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ALLERGY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WHEEZING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ALCOHOL CONSUMING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COUGHING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SHORTNESS OF BREATH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SWALLOWING DIFFICULTY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CHEST PAIN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LUNG_CANCER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RISK_SCORE</a:t>
                      </a:r>
                      <a:endParaRPr lang="en-US" sz="11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SMOKE_ALCOHOL</a:t>
                      </a:r>
                      <a:endParaRPr lang="en-US" sz="11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AGE_GROUP</a:t>
                      </a:r>
                      <a:endParaRPr lang="en-US" sz="11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PHYSICAL_SYMPTOMS_COUNT</a:t>
                      </a:r>
                      <a:endParaRPr lang="en-US" sz="11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MENTAL_HEALTH_SCORE</a:t>
                      </a:r>
                      <a:endParaRPr lang="en-US" sz="11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9227441"/>
                  </a:ext>
                </a:extLst>
              </a:tr>
              <a:tr h="3755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400" kern="1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5463011"/>
                  </a:ext>
                </a:extLst>
              </a:tr>
              <a:tr h="304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kern="1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400" kern="1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4629232"/>
                  </a:ext>
                </a:extLst>
              </a:tr>
              <a:tr h="3813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kern="1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992038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505E75-1C6A-CD76-3B5D-951E88948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7" y="1845735"/>
            <a:ext cx="11094098" cy="183985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50" b="1" dirty="0"/>
              <a:t>Random Forest Classifier:</a:t>
            </a:r>
            <a:r>
              <a:rPr lang="en-US" sz="1650" dirty="0"/>
              <a:t> F1-score 0.88, Accuracy 0.80 for lung cancer prediction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50" b="1" dirty="0"/>
              <a:t>Baseline MLP:</a:t>
            </a:r>
            <a:r>
              <a:rPr lang="en-US" sz="1650" dirty="0"/>
              <a:t> Improved with F1-score 0.90 and Accuracy 0.83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50" b="1" dirty="0"/>
              <a:t>Feature Engineering:</a:t>
            </a:r>
            <a:r>
              <a:rPr lang="en-US" sz="1650" dirty="0"/>
              <a:t> Adding 5 new features </a:t>
            </a:r>
            <a:r>
              <a:rPr lang="en-US" sz="1650" i="1" dirty="0">
                <a:solidFill>
                  <a:srgbClr val="00B050"/>
                </a:solidFill>
              </a:rPr>
              <a:t>(Risk Score, Smoke Alcohol, Age Group, Physical Symptoms Count, Mental Health  			   Score) </a:t>
            </a:r>
            <a:r>
              <a:rPr lang="en-US" sz="1650" dirty="0"/>
              <a:t>increased MLP performance to F1-score 0.91 and Accuracy 0.84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50" b="1" dirty="0"/>
              <a:t>Refined Features:</a:t>
            </a:r>
            <a:r>
              <a:rPr lang="en-US" sz="1650" dirty="0"/>
              <a:t> Removing redundancy </a:t>
            </a:r>
            <a:r>
              <a:rPr lang="en-US" sz="1650" i="1" dirty="0">
                <a:solidFill>
                  <a:srgbClr val="FF0000"/>
                </a:solidFill>
              </a:rPr>
              <a:t>(Age, Smoking, Alcohol Consuming) </a:t>
            </a:r>
            <a:r>
              <a:rPr lang="en-US" sz="1650" dirty="0"/>
              <a:t>achieved best results: </a:t>
            </a:r>
            <a:r>
              <a:rPr lang="en-US" sz="1650" b="1" i="1" dirty="0"/>
              <a:t>F1-score 0.94, Accuracy 0.89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43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378FC-A723-C860-93BA-A2F33F84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Lung Cancer Confusion Matrix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1AC446-C1A5-26EA-3162-D42772077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433" y="1818272"/>
            <a:ext cx="8433134" cy="436792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23C00-DC79-C7C4-E72D-520E6AB72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64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E5AE2-B2BE-A214-B081-CA53D939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9F6C2-0DAC-2022-2E66-B65D4205D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Mental Health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AABAF-A720-33F7-F00B-51333168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30464DF-8D68-879C-B4CE-FBE2D6A12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479978"/>
              </p:ext>
            </p:extLst>
          </p:nvPr>
        </p:nvGraphicFramePr>
        <p:xfrm>
          <a:off x="973075" y="3392752"/>
          <a:ext cx="10239408" cy="2726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856">
                  <a:extLst>
                    <a:ext uri="{9D8B030D-6E8A-4147-A177-3AD203B41FA5}">
                      <a16:colId xmlns:a16="http://schemas.microsoft.com/office/drawing/2014/main" val="743692810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93733960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1530936594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4289805200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1457549010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708732624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1895951786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3758557702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5451824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2502320642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3198731538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1626343224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2263586854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3230747210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132612501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1280213887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4212048621"/>
                    </a:ext>
                  </a:extLst>
                </a:gridCol>
                <a:gridCol w="568856">
                  <a:extLst>
                    <a:ext uri="{9D8B030D-6E8A-4147-A177-3AD203B41FA5}">
                      <a16:colId xmlns:a16="http://schemas.microsoft.com/office/drawing/2014/main" val="4116149691"/>
                    </a:ext>
                  </a:extLst>
                </a:gridCol>
              </a:tblGrid>
              <a:tr h="13577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GENDER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SMOKING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YELLOW_FINGERS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CHRONIC DISEASE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FATIGUE 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ALLERGY 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WHEEZING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ALCOHOL CONSUMING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COUGHING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SHORTNESS OF BREATH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SWALLOWING DIFFICULTY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CHEST PAIN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LUNG_CANCER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RISK_SCORE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SMOKE_ALCOHOL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AGE_GROUP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PHYSICAL_SYMPTOMS_COUNT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MENTAL_HEALTH_SCORE</a:t>
                      </a:r>
                      <a:endParaRPr lang="en-US" sz="2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9227441"/>
                  </a:ext>
                </a:extLst>
              </a:tr>
              <a:tr h="3922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5463011"/>
                  </a:ext>
                </a:extLst>
              </a:tr>
              <a:tr h="3179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4629232"/>
                  </a:ext>
                </a:extLst>
              </a:tr>
              <a:tr h="3982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2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28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992038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240E0E-D91C-C3B0-320B-267778C4D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145075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 Derived Score:</a:t>
            </a:r>
            <a:r>
              <a:rPr lang="en-US" sz="1800" dirty="0"/>
              <a:t> Mental Health Score engineered by combining anxiety and peer pressure</a:t>
            </a:r>
            <a:r>
              <a:rPr lang="en-US" sz="1800" b="1" dirty="0"/>
              <a:t> 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 Feature Reduction:</a:t>
            </a:r>
            <a:r>
              <a:rPr lang="en-US" sz="1800" dirty="0"/>
              <a:t> Removed anxiety and peer pressure columns to simplify data.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 Random Forest:</a:t>
            </a:r>
            <a:r>
              <a:rPr lang="en-US" sz="1800" dirty="0"/>
              <a:t> Achieved strong results with </a:t>
            </a:r>
            <a:r>
              <a:rPr lang="en-US" sz="1800" b="1" i="1" dirty="0"/>
              <a:t>F1-score 0.81 and accuracy 0.78.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b="1" dirty="0"/>
              <a:t> LSTM Limitations:</a:t>
            </a:r>
            <a:r>
              <a:rPr lang="en-US" sz="1800" dirty="0"/>
              <a:t> Lower performance (F1 score 0.66, accuracy 0.64) on mental health task.</a:t>
            </a:r>
          </a:p>
        </p:txBody>
      </p:sp>
    </p:spTree>
    <p:extLst>
      <p:ext uri="{BB962C8B-B14F-4D97-AF65-F5344CB8AC3E}">
        <p14:creationId xmlns:p14="http://schemas.microsoft.com/office/powerpoint/2010/main" val="1311113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272E-8EDB-92C6-55D4-3FA1936C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Mental Health Confusion Matrix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ADFCE1-8E65-6525-EC88-4D4F6BC3ED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86" y="2062065"/>
            <a:ext cx="10340916" cy="40121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BEAE6-1AFA-F0D0-2CA8-F0CE7EC4D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0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09DE-2D37-B389-C0A2-440B460B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Lung Cancer vs Mental Health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A96365-7D7E-5692-2234-6DDCDAA00F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105" y="1874255"/>
            <a:ext cx="6634749" cy="426528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E18AE-BBEB-3566-253A-D099BA41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56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39AF8-5E8F-F8BF-A7AF-9BBD4F7E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2EA3-4E5D-8815-5CD2-10EA8E30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Jaundice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F2AC3-342E-A835-39EB-6A116EA77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DFA82C6-7912-AE7C-D0F5-9FB2318B9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08565"/>
              </p:ext>
            </p:extLst>
          </p:nvPr>
        </p:nvGraphicFramePr>
        <p:xfrm>
          <a:off x="1097280" y="3590813"/>
          <a:ext cx="9912840" cy="2433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060">
                  <a:extLst>
                    <a:ext uri="{9D8B030D-6E8A-4147-A177-3AD203B41FA5}">
                      <a16:colId xmlns:a16="http://schemas.microsoft.com/office/drawing/2014/main" val="743692810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93733960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1530936594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4289805200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1457549010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708732624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1895951786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3758557702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5451824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2502320642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3198731538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1626343224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2263586854"/>
                    </a:ext>
                  </a:extLst>
                </a:gridCol>
                <a:gridCol w="708060">
                  <a:extLst>
                    <a:ext uri="{9D8B030D-6E8A-4147-A177-3AD203B41FA5}">
                      <a16:colId xmlns:a16="http://schemas.microsoft.com/office/drawing/2014/main" val="3230747210"/>
                    </a:ext>
                  </a:extLst>
                </a:gridCol>
              </a:tblGrid>
              <a:tr h="13460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GENDER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SMOKING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ANXIETY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PEER_PRESSURE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FATIGUE 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ALLERGY 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WHEEZING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COUGHING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SHORTNESS OF BREATH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SWALLOWING DIFFICULTY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CHEST PAIN</a:t>
                      </a:r>
                      <a:endParaRPr lang="en-US" sz="2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LUNG_CANCER</a:t>
                      </a:r>
                      <a:endParaRPr lang="en-US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JAUNDICE</a:t>
                      </a:r>
                      <a:endParaRPr lang="en-US" sz="2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9227441"/>
                  </a:ext>
                </a:extLst>
              </a:tr>
              <a:tr h="3763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69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5463011"/>
                  </a:ext>
                </a:extLst>
              </a:tr>
              <a:tr h="3285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74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4629232"/>
                  </a:ext>
                </a:extLst>
              </a:tr>
              <a:tr h="3821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59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32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992038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D2FCC1-7DB2-4027-C4BF-EE296A3E1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1636703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Synthetic Feature Creation:</a:t>
            </a:r>
            <a:r>
              <a:rPr lang="en-US" dirty="0"/>
              <a:t> Combined alcohol use, chronic disease, and yellow fingers indicators.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Feature Reduction:</a:t>
            </a:r>
            <a:r>
              <a:rPr lang="en-US" dirty="0"/>
              <a:t> Excluded original features to prevent redundancy and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Random Forest Performance:</a:t>
            </a:r>
            <a:r>
              <a:rPr lang="en-US" dirty="0"/>
              <a:t> Achieved </a:t>
            </a:r>
            <a:r>
              <a:rPr lang="en-US" b="1" i="1" dirty="0"/>
              <a:t>F1-score 0.85 and accuracy 0.82</a:t>
            </a:r>
            <a:r>
              <a:rPr lang="en-US" dirty="0"/>
              <a:t>, showing strong classification.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MLP Model Results:</a:t>
            </a:r>
            <a:r>
              <a:rPr lang="en-US" dirty="0"/>
              <a:t> Moderate F1-score 0.78 and accuracy 0.69, reflecting challenges with fewer features.</a:t>
            </a:r>
          </a:p>
        </p:txBody>
      </p:sp>
    </p:spTree>
    <p:extLst>
      <p:ext uri="{BB962C8B-B14F-4D97-AF65-F5344CB8AC3E}">
        <p14:creationId xmlns:p14="http://schemas.microsoft.com/office/powerpoint/2010/main" val="1996591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80C0-04D5-D68C-7566-7210B233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Jaundice Confusion Matrix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B1BC53-3F39-DDB6-5FF1-C390A0659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89" y="2006082"/>
            <a:ext cx="11060362" cy="37509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F0C9D-BD97-ECD4-632A-0E98B0C7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04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C1CB-C0F3-B811-7887-07899E102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Lung Cancer vs Jaundice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4DF4E2-A860-F485-D7C3-1B10FAEC1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951" y="1919275"/>
            <a:ext cx="6240098" cy="435859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89A80-6121-B018-666A-99277C9F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75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A1560-5D26-697A-6A4D-FE7684DAB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EB7D-F93A-3B2F-26A3-60FC1EF6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Heart Problem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B5E59-F43D-93B1-ABD9-29E2831E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3092AE3-2C93-F2D8-9DC2-865448DE5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766733"/>
              </p:ext>
            </p:extLst>
          </p:nvPr>
        </p:nvGraphicFramePr>
        <p:xfrm>
          <a:off x="1097280" y="3554964"/>
          <a:ext cx="10239390" cy="2544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590">
                  <a:extLst>
                    <a:ext uri="{9D8B030D-6E8A-4147-A177-3AD203B41FA5}">
                      <a16:colId xmlns:a16="http://schemas.microsoft.com/office/drawing/2014/main" val="743692810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93733960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1530936594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2833513751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1417140336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4289805200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1457549010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708732624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1895951786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3758557702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5451824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2502320642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3198731538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1626343224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2263586854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3230747210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132612501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1280213887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4212048621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4116149691"/>
                    </a:ext>
                  </a:extLst>
                </a:gridCol>
                <a:gridCol w="487590">
                  <a:extLst>
                    <a:ext uri="{9D8B030D-6E8A-4147-A177-3AD203B41FA5}">
                      <a16:colId xmlns:a16="http://schemas.microsoft.com/office/drawing/2014/main" val="2060195930"/>
                    </a:ext>
                  </a:extLst>
                </a:gridCol>
              </a:tblGrid>
              <a:tr h="1422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GENDER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SMOKING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YELLOW_FINGERS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ANXIETY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PEER_PRESSURE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CHRONIC DISEASE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FATIGUE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ALLERGY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WHEEZING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ALCOHOL CONSUMING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COUGHING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SHORTNESS OF BREATH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SWALLOWING DIFFICULTY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CHEST PAIN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LUNG_CANCER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RISK_SCORE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SMOKE_ALCOHOL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AGE_GROUP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PHYSICAL_SYMPTOMS_COUNT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MENTAL_HEALTH_SCORE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HEART_PROBLEM</a:t>
                      </a:r>
                      <a:endParaRPr lang="en-US" sz="11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9227441"/>
                  </a:ext>
                </a:extLst>
              </a:tr>
              <a:tr h="3755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5463011"/>
                  </a:ext>
                </a:extLst>
              </a:tr>
              <a:tr h="3044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4629232"/>
                  </a:ext>
                </a:extLst>
              </a:tr>
              <a:tr h="3813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kern="1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992038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839B7-3319-B758-DCC1-26D43158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183985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 Feature synthesis:</a:t>
            </a:r>
            <a:r>
              <a:rPr lang="en-US" dirty="0"/>
              <a:t> Combined 11 health indicators into a single Heart Problem label.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 Key indicators:</a:t>
            </a:r>
            <a:r>
              <a:rPr lang="en-US" dirty="0"/>
              <a:t> Included smoking, anxiety, chronic disease, fatigue, and more.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 Performance:</a:t>
            </a:r>
            <a:r>
              <a:rPr lang="en-US" dirty="0"/>
              <a:t> Both Random Forest and MLP models scored </a:t>
            </a:r>
            <a:r>
              <a:rPr lang="en-US" b="1" i="1" dirty="0"/>
              <a:t>F1-score 0.95, accuracy 0.93.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 Effectiveness:</a:t>
            </a:r>
            <a:r>
              <a:rPr lang="en-US" dirty="0"/>
              <a:t> Derived features enhanced model robustness and prediction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68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9D32-826F-0B0A-4CFB-00A2FC620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Heart Problem Confusion Matrix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528E2C-3346-C16F-AC54-7B46126DE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40" y="1838131"/>
            <a:ext cx="10492319" cy="399350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970F2-8B9A-8F44-0F00-B755735B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49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47E76-00E5-D192-F881-2903E77C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Lung Cancer vs Heart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1B2674-DC33-EDCF-940A-3A6B9CE78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628" y="1808938"/>
            <a:ext cx="6344744" cy="433060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A06CB-277B-BA54-D30A-7E37F67F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10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56A1-39A6-6BC8-6922-42E1BC78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6C064-C46A-A0CD-CF4A-08412D957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043112"/>
            <a:ext cx="6581815" cy="382598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b="1" dirty="0"/>
              <a:t>1. Lung Cancer (MLP Extended)</a:t>
            </a:r>
            <a:r>
              <a:rPr lang="en-US" sz="2000" dirty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   achieved top performance with F1 score at 0.94 and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   accuracy 0.89.</a:t>
            </a:r>
          </a:p>
          <a:p>
            <a:pPr>
              <a:buNone/>
            </a:pPr>
            <a:r>
              <a:rPr lang="en-US" sz="2000" b="1" dirty="0"/>
              <a:t>2. Mental Health (Random Forest)</a:t>
            </a:r>
            <a:r>
              <a:rPr lang="en-US" sz="2000" dirty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   showed solid results, F1 score of 0.81 and accuracy 0.78.</a:t>
            </a:r>
          </a:p>
          <a:p>
            <a:pPr>
              <a:buNone/>
            </a:pPr>
            <a:r>
              <a:rPr lang="en-US" sz="2000" b="1" dirty="0"/>
              <a:t>3. Jaundice (Random Forest)</a:t>
            </a:r>
            <a:r>
              <a:rPr lang="en-US" sz="2000" dirty="0"/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   scored F1 score of 0.85 and accuracy 0.82, indicating 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   reliable predictions.</a:t>
            </a:r>
          </a:p>
          <a:p>
            <a:pPr marL="0" indent="0">
              <a:buNone/>
            </a:pPr>
            <a:r>
              <a:rPr lang="en-US" sz="2000" b="1" dirty="0"/>
              <a:t>4. Heart Problem (RF/MLP)</a:t>
            </a:r>
            <a:r>
              <a:rPr lang="en-US" sz="20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sz="2000" dirty="0"/>
              <a:t>delivered best outcomes, F1 score at 0.95 and accuracy 0.93.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08D7B-468E-C388-C4F7-949E15509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159" y="2571750"/>
            <a:ext cx="3362684" cy="230007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2939A-1986-7468-F482-183F1866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26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B463-E087-DFC1-F224-9C59198B9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Model Performance Table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D3A4FB4-F256-E763-3770-FDDD9347C1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725892"/>
              </p:ext>
            </p:extLst>
          </p:nvPr>
        </p:nvGraphicFramePr>
        <p:xfrm>
          <a:off x="1096963" y="1846262"/>
          <a:ext cx="10058397" cy="4274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0572">
                  <a:extLst>
                    <a:ext uri="{9D8B030D-6E8A-4147-A177-3AD203B41FA5}">
                      <a16:colId xmlns:a16="http://schemas.microsoft.com/office/drawing/2014/main" val="2042038486"/>
                    </a:ext>
                  </a:extLst>
                </a:gridCol>
                <a:gridCol w="2547257">
                  <a:extLst>
                    <a:ext uri="{9D8B030D-6E8A-4147-A177-3AD203B41FA5}">
                      <a16:colId xmlns:a16="http://schemas.microsoft.com/office/drawing/2014/main" val="4061957244"/>
                    </a:ext>
                  </a:extLst>
                </a:gridCol>
                <a:gridCol w="2440568">
                  <a:extLst>
                    <a:ext uri="{9D8B030D-6E8A-4147-A177-3AD203B41FA5}">
                      <a16:colId xmlns:a16="http://schemas.microsoft.com/office/drawing/2014/main" val="2551843672"/>
                    </a:ext>
                  </a:extLst>
                </a:gridCol>
              </a:tblGrid>
              <a:tr h="4397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20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20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20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6389389"/>
                  </a:ext>
                </a:extLst>
              </a:tr>
              <a:tr h="3957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Classifier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1486679"/>
                  </a:ext>
                </a:extLst>
              </a:tr>
              <a:tr h="3957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Multi-Layer Perceptron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6138738"/>
                  </a:ext>
                </a:extLst>
              </a:tr>
              <a:tr h="3804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MLP (New Features)</a:t>
                      </a:r>
                      <a:endParaRPr lang="en-US" sz="18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095729"/>
                  </a:ext>
                </a:extLst>
              </a:tr>
              <a:tr h="3804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i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MLP (Features Extend)</a:t>
                      </a:r>
                      <a:endParaRPr lang="en-US" sz="1800" i="1" kern="100" dirty="0">
                        <a:solidFill>
                          <a:srgbClr val="00B05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i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2680999"/>
                  </a:ext>
                </a:extLst>
              </a:tr>
              <a:tr h="3804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(Mental Health)</a:t>
                      </a:r>
                      <a:endParaRPr lang="en-US" sz="1800" kern="100" dirty="0">
                        <a:solidFill>
                          <a:srgbClr val="00B05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4757459"/>
                  </a:ext>
                </a:extLst>
              </a:tr>
              <a:tr h="3804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LSTM (Mental Health)</a:t>
                      </a:r>
                      <a:endParaRPr lang="en-US" sz="18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3939250"/>
                  </a:ext>
                </a:extLst>
              </a:tr>
              <a:tr h="3804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(Jaundice)</a:t>
                      </a:r>
                      <a:endParaRPr lang="en-US" sz="1800" kern="100" dirty="0">
                        <a:solidFill>
                          <a:srgbClr val="00B05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0.82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05697314"/>
                  </a:ext>
                </a:extLst>
              </a:tr>
              <a:tr h="3804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MLP (Jaundice)</a:t>
                      </a:r>
                      <a:endParaRPr lang="en-US" sz="18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0.69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72459428"/>
                  </a:ext>
                </a:extLst>
              </a:tr>
              <a:tr h="3804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 Forest (Heart Problem)</a:t>
                      </a:r>
                      <a:endParaRPr lang="en-US" sz="1800" kern="100">
                        <a:solidFill>
                          <a:srgbClr val="00B05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1988491"/>
                  </a:ext>
                </a:extLst>
              </a:tr>
              <a:tr h="3804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MLP (Heart Problem)</a:t>
                      </a:r>
                      <a:endParaRPr lang="en-US" sz="1800" kern="100" dirty="0">
                        <a:solidFill>
                          <a:srgbClr val="00B05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0.93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254131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83768-EF30-579B-1C68-009EC7D5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55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C91A-163A-CE80-8F55-7D0ADC6F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Model Performance Bar 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F802C6-CEFB-3592-D97C-EAEE4EF2C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173" y="1892916"/>
            <a:ext cx="9330613" cy="4162651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5ECA3-555B-A73C-AA8C-895E2A58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54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81FE9-9AB6-76B2-4938-942E6A01F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A89F9-2B86-6E89-50B9-B97DB5AC7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study shows how feature engineering and synthetic targets improve model accuracy.</a:t>
            </a: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Careful model selection boosts prediction reliability in healthcare diagnostics.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These insights aid real-time health screening, especially in resource-limited environments.</a:t>
            </a:r>
          </a:p>
          <a:p>
            <a:pPr>
              <a:buNone/>
            </a:pPr>
            <a:r>
              <a:rPr lang="en-US" b="1" dirty="0"/>
              <a:t>1. Feature Engineering</a:t>
            </a:r>
          </a:p>
          <a:p>
            <a:pPr>
              <a:spcBef>
                <a:spcPts val="0"/>
              </a:spcBef>
            </a:pPr>
            <a:r>
              <a:rPr lang="en-US" dirty="0"/>
              <a:t>Crafting relevant features enhances the learning process and outcome quality.</a:t>
            </a:r>
          </a:p>
          <a:p>
            <a:pPr>
              <a:buNone/>
            </a:pPr>
            <a:r>
              <a:rPr lang="en-US" b="1" dirty="0"/>
              <a:t>2. Synthetic Target Generation</a:t>
            </a:r>
          </a:p>
          <a:p>
            <a:pPr>
              <a:spcBef>
                <a:spcPts val="0"/>
              </a:spcBef>
            </a:pPr>
            <a:r>
              <a:rPr lang="en-US" dirty="0"/>
              <a:t>Creating artificial targets adds robustness for rare condition predictions.</a:t>
            </a:r>
          </a:p>
          <a:p>
            <a:pPr>
              <a:buNone/>
            </a:pPr>
            <a:r>
              <a:rPr lang="en-US" b="1" dirty="0"/>
              <a:t>3. Model Selection</a:t>
            </a:r>
          </a:p>
          <a:p>
            <a:pPr>
              <a:spcBef>
                <a:spcPts val="0"/>
              </a:spcBef>
            </a:pPr>
            <a:r>
              <a:rPr lang="en-US" dirty="0"/>
              <a:t>Choosing the right algorithm ensures optimal balance of accuracy and speed.</a:t>
            </a:r>
          </a:p>
          <a:p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ECC1B-3361-DDB3-C007-F4AED042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19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03FF7-224C-E895-DB72-5C683D884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C179-852D-502F-81ED-83B555C22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74032"/>
            <a:ext cx="5574108" cy="3695061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200" b="1" dirty="0"/>
              <a:t> Heart Disease Prediction Enhancement</a:t>
            </a:r>
            <a:br>
              <a:rPr lang="en-US" dirty="0"/>
            </a:br>
            <a:r>
              <a:rPr lang="en-US" dirty="0"/>
              <a:t>Integrate hereditary data to boost personalization and accuracy.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 Lung Cancer Model Expansion</a:t>
            </a:r>
            <a:br>
              <a:rPr lang="en-US" dirty="0"/>
            </a:br>
            <a:r>
              <a:rPr lang="en-US" dirty="0"/>
              <a:t>Use medical imaging to predict damage extent and location.</a:t>
            </a:r>
          </a:p>
          <a:p>
            <a:pPr>
              <a:buFont typeface="+mj-lt"/>
              <a:buAutoNum type="arabicPeriod"/>
            </a:pPr>
            <a:r>
              <a:rPr lang="en-US" sz="2200" b="1" dirty="0"/>
              <a:t> Multi-Disease Diagnostic Models</a:t>
            </a:r>
            <a:br>
              <a:rPr lang="en-US" dirty="0"/>
            </a:br>
            <a:r>
              <a:rPr lang="en-US" dirty="0"/>
              <a:t>Predict multiple ailments simultaneously with diverse data integration.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B5C9A9-A1C2-717A-8620-647D25661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306" y="2174032"/>
            <a:ext cx="4646380" cy="31791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722E6-12CE-1C6A-D604-C5652ADCA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84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25FC-0016-5173-6C59-4E2EFD95D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6C0C0-E29F-616A-E77A-6BF570BD0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49793"/>
          </a:xfrm>
        </p:spPr>
        <p:txBody>
          <a:bodyPr>
            <a:normAutofit fontScale="70000" lnSpcReduction="20000"/>
          </a:bodyPr>
          <a:lstStyle/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S. K. Sharma and S. Goyal, “Early Detection of Lung Cancer Using Machine Learning Algorithms,”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Procedia Computer Science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167, pp. 1810–1819, 2020.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S.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Minaee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al., “Image-based COVID-19 Diagnosis: A Comprehensive Review,”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IEEE Access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8, pp. 195521–195545, 2020.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 A. Esteva et al., “Dermatologist-level Classification of Skin Cancer with Deep Neural Networks,”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Nature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542, no. 7639, pp. 115–118, 2017.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[4] A. Rahman and S. Muniyandi, “Lung Cancer Prediction Using Data Mining Techniques,”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Journal of Science and Research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3, no. 6, pp. 2319–7064, 2014.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[5] S. Choudhury and P. Gupta, “A Review on Lung Cancer Detection Using Machine Learning Techniques,”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Materials Today: Proceedings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62, pp. 7692–7700, 2022.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[6] K. M. Hosseini et al., “Feature Selection for Medical Diagnosis: Evaluation for Lung Cancer,” in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Proc. IEEE Int. Conf. on Bioinformatics and Biomedicine (BIBM)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2018, pp. 1099–1102.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[7] S. Hochreiter and J.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Schmidhuber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“Long Short-Term Memory,”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Neural Computation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9, no. 8, pp. 1735–1780, 1997.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[8] J. Brownlee,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 Learning for Time Series Forecasting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Machine Learning Mastery, 2018.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[9] N. Srivastava et al., “Dropout: A Simple Way to Prevent Neural Networks from Overfitting,”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Journal of Machine Learning Research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15, pp. 1929–1958, 2014.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[10] M. Mohan, C. Thirumalai, and G. Srivastava, “Effective Heart Disease Prediction Using Hybrid Machine Learning Techniques,” </a:t>
            </a: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IEEE Access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vol. 7, pp. 81542–81554, 2019.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606E2-2AA0-BC0E-1663-A47E00A7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68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55E7-B489-739E-6586-87A7CB942D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EF7F7F-7807-3D35-A4E8-9275D21C4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0962B-441E-4626-82B0-AA27AD68701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2319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1452</TotalTime>
  <Words>2207</Words>
  <Application>Microsoft Office PowerPoint</Application>
  <PresentationFormat>Widescreen</PresentationFormat>
  <Paragraphs>602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Times New Roman</vt:lpstr>
      <vt:lpstr>Wingdings</vt:lpstr>
      <vt:lpstr>Retrospect</vt:lpstr>
      <vt:lpstr>PowerPoint Presentation</vt:lpstr>
      <vt:lpstr>Outline</vt:lpstr>
      <vt:lpstr>Introduction</vt:lpstr>
      <vt:lpstr>Literature Review</vt:lpstr>
      <vt:lpstr>Methodology</vt:lpstr>
      <vt:lpstr>Multilayer Perceptron Working</vt:lpstr>
      <vt:lpstr>Algorithm</vt:lpstr>
      <vt:lpstr>Flowchart</vt:lpstr>
      <vt:lpstr>Random Forest Working</vt:lpstr>
      <vt:lpstr>Implementation</vt:lpstr>
      <vt:lpstr>Lung Cancer Prediction</vt:lpstr>
      <vt:lpstr>Lung Cancer Confusion Matrix </vt:lpstr>
      <vt:lpstr>Mental Health Prediction</vt:lpstr>
      <vt:lpstr>Mental Health Confusion Matrix </vt:lpstr>
      <vt:lpstr>Lung Cancer vs Mental Health</vt:lpstr>
      <vt:lpstr>Jaundice Prediction</vt:lpstr>
      <vt:lpstr>Jaundice Confusion Matrix </vt:lpstr>
      <vt:lpstr>Lung Cancer vs Jaundice</vt:lpstr>
      <vt:lpstr>Heart Problem Prediction</vt:lpstr>
      <vt:lpstr>Heart Problem Confusion Matrix</vt:lpstr>
      <vt:lpstr>Lung Cancer vs Heart Problem</vt:lpstr>
      <vt:lpstr>Results</vt:lpstr>
      <vt:lpstr>Model Performance Table</vt:lpstr>
      <vt:lpstr>Model Performance Bar Graph</vt:lpstr>
      <vt:lpstr>Conclusion</vt:lpstr>
      <vt:lpstr>Future Scope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GP 7</dc:creator>
  <cp:lastModifiedBy>GP 7</cp:lastModifiedBy>
  <cp:revision>109</cp:revision>
  <dcterms:created xsi:type="dcterms:W3CDTF">2024-12-09T13:27:29Z</dcterms:created>
  <dcterms:modified xsi:type="dcterms:W3CDTF">2025-05-13T08:09:08Z</dcterms:modified>
</cp:coreProperties>
</file>