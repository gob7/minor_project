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68" r:id="rId2"/>
    <p:sldId id="277" r:id="rId3"/>
    <p:sldId id="279" r:id="rId4"/>
    <p:sldId id="278" r:id="rId5"/>
    <p:sldId id="280" r:id="rId6"/>
    <p:sldId id="257" r:id="rId7"/>
    <p:sldId id="258" r:id="rId8"/>
    <p:sldId id="259" r:id="rId9"/>
    <p:sldId id="260" r:id="rId10"/>
    <p:sldId id="261" r:id="rId11"/>
    <p:sldId id="262" r:id="rId12"/>
    <p:sldId id="266" r:id="rId13"/>
    <p:sldId id="265" r:id="rId14"/>
    <p:sldId id="267" r:id="rId15"/>
    <p:sldId id="263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3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83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33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04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6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5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3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4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80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9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34BB7C6-1A02-4778-BB0F-97CC787E48C6}" type="datetimeFigureOut">
              <a:rPr lang="en-US" smtClean="0"/>
              <a:t>10-Dec-24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36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F4D2B2-9EDA-12FB-869D-B3F314FFF939}"/>
              </a:ext>
            </a:extLst>
          </p:cNvPr>
          <p:cNvSpPr txBox="1"/>
          <p:nvPr/>
        </p:nvSpPr>
        <p:spPr>
          <a:xfrm>
            <a:off x="2293751" y="435864"/>
            <a:ext cx="6919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Lungs Cancer Detection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C36DC7-0B67-56E7-4C00-AEFB10983B7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04483" y="1804687"/>
            <a:ext cx="2035175" cy="24085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E4CE8A-78FB-FDC7-5271-38722736EBC0}"/>
              </a:ext>
            </a:extLst>
          </p:cNvPr>
          <p:cNvSpPr txBox="1"/>
          <p:nvPr/>
        </p:nvSpPr>
        <p:spPr>
          <a:xfrm>
            <a:off x="484012" y="2316391"/>
            <a:ext cx="3938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Guided By:</a:t>
            </a:r>
          </a:p>
          <a:p>
            <a:pPr algn="ctr"/>
            <a:r>
              <a:rPr lang="en-US" sz="2400" dirty="0"/>
              <a:t>Mr. Suresh Kumar </a:t>
            </a:r>
            <a:r>
              <a:rPr lang="en-US" sz="2400" dirty="0" err="1"/>
              <a:t>Srichandan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5B4F4-7A44-640A-D8B6-B0D751430D1D}"/>
              </a:ext>
            </a:extLst>
          </p:cNvPr>
          <p:cNvSpPr txBox="1"/>
          <p:nvPr/>
        </p:nvSpPr>
        <p:spPr>
          <a:xfrm>
            <a:off x="7305869" y="2181440"/>
            <a:ext cx="4812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Presented By:</a:t>
            </a:r>
          </a:p>
          <a:p>
            <a:pPr algn="ctr"/>
            <a:r>
              <a:rPr lang="en-US" sz="2400" dirty="0"/>
              <a:t>Gobinda Panda (2102040002)</a:t>
            </a:r>
          </a:p>
          <a:p>
            <a:pPr algn="ctr"/>
            <a:r>
              <a:rPr lang="en-US" sz="2400" dirty="0"/>
              <a:t>Sugyani Manjari Dash (2102081031)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9AEC1-C2FA-3184-2D6C-9CDF685DCC65}"/>
              </a:ext>
            </a:extLst>
          </p:cNvPr>
          <p:cNvSpPr txBox="1"/>
          <p:nvPr/>
        </p:nvSpPr>
        <p:spPr>
          <a:xfrm>
            <a:off x="2231114" y="4665680"/>
            <a:ext cx="6981912" cy="1965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DEPARTMENT OF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COMPUTER SCIENCE AND ENGINEERING,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VEER SURENDRA SAI UNIVERSITY OF TECHNOLOGY,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BURLA, SAMBALPUR – 7682018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[202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20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]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55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F978-6D30-C1F0-2132-2C442465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39CFF-688E-3AE4-82B7-C218BA321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81810" algn="l"/>
              </a:tabLst>
            </a:pP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</a:t>
            </a: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81810" algn="l"/>
              </a:tabLst>
            </a:pPr>
            <a:r>
              <a:rPr lang="en-US" sz="24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Motivation</a:t>
            </a:r>
            <a:endParaRPr lang="en-US" sz="24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86890" algn="l"/>
              </a:tabLst>
            </a:pPr>
            <a:r>
              <a:rPr lang="en-US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Literature</a:t>
            </a:r>
            <a:r>
              <a:rPr lang="en-US" sz="2400" spc="3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endParaRPr lang="en-US" sz="24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78635" algn="l"/>
              </a:tabLst>
            </a:pP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Computation Model (LSTM, </a:t>
            </a:r>
            <a:r>
              <a:rPr lang="en-US" sz="24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BiLSTM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GAN)</a:t>
            </a:r>
          </a:p>
          <a:p>
            <a:pPr marL="34290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78635" algn="l"/>
              </a:tabLst>
            </a:pPr>
            <a:r>
              <a:rPr lang="en-US" sz="24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Confusion Matrices</a:t>
            </a:r>
            <a:endParaRPr lang="en-US" sz="24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79270" algn="l"/>
              </a:tabLst>
            </a:pPr>
            <a:r>
              <a:rPr lang="en-US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85620" algn="l"/>
              </a:tabLst>
            </a:pP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References</a:t>
            </a:r>
            <a:endParaRPr lang="en-US" sz="24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91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2836-C01D-85FC-BFE0-15A20D75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6C356-60A3-2562-0FDA-8CAB90C08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project focuses on lung cancer prediction using machine learning (ML) techniques for early and accurate detection.</a:t>
            </a:r>
          </a:p>
          <a:p>
            <a:pPr algn="just"/>
            <a:r>
              <a:rPr lang="en-US" dirty="0"/>
              <a:t>Twelve supervised learning algorithms, such as Logistic Regression, Gaussian Naïve Bayes, Bernoulli Naïve Bayes, Support Vector Machines (SVM), Random Forests, and K-Nearest Neighbors (KNN), were compared, along with ensemble methods like </a:t>
            </a:r>
            <a:r>
              <a:rPr lang="en-US" dirty="0" err="1"/>
              <a:t>XGBoost</a:t>
            </a:r>
            <a:r>
              <a:rPr lang="en-US" dirty="0"/>
              <a:t> and AdaBoost. The models were evaluated using accuracy, precision, recall, and F1-score to measure their predictive performance.</a:t>
            </a:r>
          </a:p>
          <a:p>
            <a:pPr algn="just"/>
            <a:r>
              <a:rPr lang="en-US" dirty="0"/>
              <a:t>Previously, KNN and Bernoulli Naïve Bayes achieved the best accuracy (92.86% and 91.07%, respectively) due to their compatibility with binary attributes in small datasets, while ensemble models and neural networks showed slightly lower performance due to dataset constraints.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5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4A8B-2077-B84F-989B-7EFAA96D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B4629-4102-12C9-41FA-88DFBF6AA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Clinical features like smoking habits, yellow fingers, chronic diseases, and chest pain are analyzed to identify patterns indicative of lung cancer. Algorithms applied include Long Short-Term Memory, Bidirectional LSTM, Generative </a:t>
            </a:r>
            <a:r>
              <a:rPr lang="en-US" dirty="0" err="1"/>
              <a:t>Adversial</a:t>
            </a:r>
            <a:r>
              <a:rPr lang="en-US" dirty="0"/>
              <a:t> Network, Voting Classifier, Stacking Classifier.</a:t>
            </a:r>
          </a:p>
          <a:p>
            <a:pPr algn="just"/>
            <a:r>
              <a:rPr lang="en-US" dirty="0"/>
              <a:t>Data preprocessing involves duplicate removal, feature correlation analysis, and cross-validation to ensure model </a:t>
            </a:r>
            <a:r>
              <a:rPr lang="en-US"/>
              <a:t>reliability. Statistical </a:t>
            </a:r>
            <a:r>
              <a:rPr lang="en-US" dirty="0"/>
              <a:t>techniques and heatmaps address data imbalance, enhancing model performance and accuracy.</a:t>
            </a:r>
          </a:p>
          <a:p>
            <a:pPr algn="just"/>
            <a:r>
              <a:rPr lang="en-US" dirty="0"/>
              <a:t>The study aims to build a robust ML-based diagnostic system, improving early detection and patient outcomes in real-world applications.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560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18F9-559E-D106-0C4C-B8DFB2E5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66109E-66BD-A369-8837-DB2DEFCA5F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1036654"/>
              </p:ext>
            </p:extLst>
          </p:nvPr>
        </p:nvGraphicFramePr>
        <p:xfrm>
          <a:off x="900113" y="1846263"/>
          <a:ext cx="10601325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847">
                  <a:extLst>
                    <a:ext uri="{9D8B030D-6E8A-4147-A177-3AD203B41FA5}">
                      <a16:colId xmlns:a16="http://schemas.microsoft.com/office/drawing/2014/main" val="2857272427"/>
                    </a:ext>
                  </a:extLst>
                </a:gridCol>
                <a:gridCol w="1503073">
                  <a:extLst>
                    <a:ext uri="{9D8B030D-6E8A-4147-A177-3AD203B41FA5}">
                      <a16:colId xmlns:a16="http://schemas.microsoft.com/office/drawing/2014/main" val="3792229614"/>
                    </a:ext>
                  </a:extLst>
                </a:gridCol>
                <a:gridCol w="757526">
                  <a:extLst>
                    <a:ext uri="{9D8B030D-6E8A-4147-A177-3AD203B41FA5}">
                      <a16:colId xmlns:a16="http://schemas.microsoft.com/office/drawing/2014/main" val="2909716090"/>
                    </a:ext>
                  </a:extLst>
                </a:gridCol>
                <a:gridCol w="7424879">
                  <a:extLst>
                    <a:ext uri="{9D8B030D-6E8A-4147-A177-3AD203B41FA5}">
                      <a16:colId xmlns:a16="http://schemas.microsoft.com/office/drawing/2014/main" val="4169303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Sl.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02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Satya Prakash Maurya et al.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Comparative study of machine learning algorithms for lung cancer prediction, with K-Nearest Neighbors and Bernoulli Naive Bayes achieving the highest accuracy.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720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Khosravi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et al.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Focused on ensemble models like Random Forest and AdaBoost for lung cancer risk prediction, emphasizing their ability to handle high-dimensional data.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66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Cheng et al.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Investigated machine learning models like Decision Trees and Random Forests, showing ensemble methods outperformed individual algorithms in lung cancer classification.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223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Zhou et al.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Applied Convolutional Neural Networks (CNNs) to analyze lung cancer from medical imaging, enhancing tumor detection in CT scans.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035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 et al.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ncorporated features like smoking and alcohol consumption, improving lung cancer prediction using Gaussian Naïve Bayes and SVMs.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903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6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BB1B-B80E-D0C8-85C1-ED2CF8C60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602896"/>
            <a:ext cx="10058400" cy="1168193"/>
          </a:xfrm>
        </p:spPr>
        <p:txBody>
          <a:bodyPr/>
          <a:lstStyle/>
          <a:p>
            <a:r>
              <a:rPr lang="en-US" dirty="0"/>
              <a:t>Computational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8C860-F15C-E051-925D-35F5B9DCB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134" y="1845734"/>
            <a:ext cx="11019453" cy="4023360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b="1" dirty="0"/>
              <a:t>1. LSTM (Long Short-Term Memory)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lang="en-US" dirty="0"/>
              <a:t>Uses memory cells to retain long-term dependencies in sequential data.</a:t>
            </a:r>
          </a:p>
          <a:p>
            <a:pPr>
              <a:spcBef>
                <a:spcPts val="600"/>
              </a:spcBef>
            </a:pPr>
            <a:r>
              <a:rPr lang="en-US" b="1" dirty="0"/>
              <a:t>2. BiLSTM (Bidirectional Long Short-Term Memory)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lang="en-US" dirty="0"/>
              <a:t>Processes input sequences in both forward and backward directions to capture past and future context.</a:t>
            </a:r>
          </a:p>
          <a:p>
            <a:pPr>
              <a:spcBef>
                <a:spcPts val="600"/>
              </a:spcBef>
            </a:pPr>
            <a:r>
              <a:rPr lang="en-US" b="1" dirty="0"/>
              <a:t>3. GAN (Generative Adversarial Network)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lang="en-US" dirty="0"/>
              <a:t>Consists of generator &amp; discriminator, where the generator creates fake samples to fool the discriminator.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DB1D93-D23E-C85A-4F9D-3111EE3D3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336677"/>
              </p:ext>
            </p:extLst>
          </p:nvPr>
        </p:nvGraphicFramePr>
        <p:xfrm>
          <a:off x="1482012" y="4331409"/>
          <a:ext cx="922797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595">
                  <a:extLst>
                    <a:ext uri="{9D8B030D-6E8A-4147-A177-3AD203B41FA5}">
                      <a16:colId xmlns:a16="http://schemas.microsoft.com/office/drawing/2014/main" val="1152004586"/>
                    </a:ext>
                  </a:extLst>
                </a:gridCol>
                <a:gridCol w="1845595">
                  <a:extLst>
                    <a:ext uri="{9D8B030D-6E8A-4147-A177-3AD203B41FA5}">
                      <a16:colId xmlns:a16="http://schemas.microsoft.com/office/drawing/2014/main" val="1647849309"/>
                    </a:ext>
                  </a:extLst>
                </a:gridCol>
                <a:gridCol w="1845595">
                  <a:extLst>
                    <a:ext uri="{9D8B030D-6E8A-4147-A177-3AD203B41FA5}">
                      <a16:colId xmlns:a16="http://schemas.microsoft.com/office/drawing/2014/main" val="57318872"/>
                    </a:ext>
                  </a:extLst>
                </a:gridCol>
                <a:gridCol w="1845595">
                  <a:extLst>
                    <a:ext uri="{9D8B030D-6E8A-4147-A177-3AD203B41FA5}">
                      <a16:colId xmlns:a16="http://schemas.microsoft.com/office/drawing/2014/main" val="4281423310"/>
                    </a:ext>
                  </a:extLst>
                </a:gridCol>
                <a:gridCol w="1845595">
                  <a:extLst>
                    <a:ext uri="{9D8B030D-6E8A-4147-A177-3AD203B41FA5}">
                      <a16:colId xmlns:a16="http://schemas.microsoft.com/office/drawing/2014/main" val="2192281128"/>
                    </a:ext>
                  </a:extLst>
                </a:gridCol>
              </a:tblGrid>
              <a:tr h="3403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641967"/>
                  </a:ext>
                </a:extLst>
              </a:tr>
              <a:tr h="3505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453607"/>
                  </a:ext>
                </a:extLst>
              </a:tr>
              <a:tr h="340340">
                <a:tc>
                  <a:txBody>
                    <a:bodyPr/>
                    <a:lstStyle/>
                    <a:p>
                      <a:r>
                        <a:rPr lang="en-US" b="0" dirty="0"/>
                        <a:t>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234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4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652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1E0C-DFAC-DB7F-DAB5-337C089E9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LSTM </a:t>
            </a:r>
            <a:r>
              <a:rPr lang="en-US" dirty="0"/>
              <a:t>(Long Short-Term Memory)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B89E6-F52C-E83E-681F-0F9C0CD59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chemeClr val="accent2"/>
                </a:solidFill>
              </a:rPr>
              <a:t>1. </a:t>
            </a:r>
            <a:r>
              <a:rPr lang="en-US" dirty="0"/>
              <a:t>Initialize </a:t>
            </a:r>
            <a:r>
              <a:rPr lang="en-US" dirty="0">
                <a:solidFill>
                  <a:srgbClr val="0070C0"/>
                </a:solidFill>
              </a:rPr>
              <a:t>empty</a:t>
            </a:r>
            <a:r>
              <a:rPr lang="en-US" dirty="0"/>
              <a:t> dictionary </a:t>
            </a:r>
            <a:r>
              <a:rPr lang="en-US" dirty="0">
                <a:solidFill>
                  <a:srgbClr val="00B050"/>
                </a:solidFill>
              </a:rPr>
              <a:t>'label_encoders’.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chemeClr val="accent2"/>
                </a:solidFill>
              </a:rPr>
              <a:t>2. </a:t>
            </a:r>
            <a:r>
              <a:rPr lang="en-US" dirty="0">
                <a:solidFill>
                  <a:srgbClr val="0070C0"/>
                </a:solidFill>
              </a:rPr>
              <a:t>Set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'X' </a:t>
            </a:r>
            <a:r>
              <a:rPr lang="en-US" dirty="0">
                <a:solidFill>
                  <a:srgbClr val="0070C0"/>
                </a:solidFill>
              </a:rPr>
              <a:t>to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'x’.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chemeClr val="accent2"/>
                </a:solidFill>
              </a:rPr>
              <a:t>3. </a:t>
            </a:r>
            <a:r>
              <a:rPr lang="en-US" dirty="0">
                <a:solidFill>
                  <a:srgbClr val="0070C0"/>
                </a:solidFill>
              </a:rPr>
              <a:t>For each column in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'columns' </a:t>
            </a:r>
            <a:r>
              <a:rPr lang="en-US" dirty="0">
                <a:solidFill>
                  <a:srgbClr val="0070C0"/>
                </a:solidFill>
              </a:rPr>
              <a:t>except</a:t>
            </a:r>
            <a:r>
              <a:rPr lang="en-US" dirty="0"/>
              <a:t> the </a:t>
            </a:r>
            <a:r>
              <a:rPr lang="en-US" dirty="0">
                <a:solidFill>
                  <a:srgbClr val="0070C0"/>
                </a:solidFill>
              </a:rPr>
              <a:t>last one</a:t>
            </a:r>
            <a:r>
              <a:rPr lang="en-US" dirty="0"/>
              <a:t>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a. </a:t>
            </a:r>
            <a:r>
              <a:rPr lang="en-US" dirty="0">
                <a:solidFill>
                  <a:srgbClr val="0070C0"/>
                </a:solidFill>
              </a:rPr>
              <a:t>Create</a:t>
            </a:r>
            <a:r>
              <a:rPr lang="en-US" dirty="0"/>
              <a:t> a LabelEncoder </a:t>
            </a:r>
            <a:r>
              <a:rPr lang="en-US" dirty="0">
                <a:solidFill>
                  <a:srgbClr val="0070C0"/>
                </a:solidFill>
              </a:rPr>
              <a:t>for</a:t>
            </a:r>
            <a:r>
              <a:rPr lang="en-US" dirty="0"/>
              <a:t> the </a:t>
            </a:r>
            <a:r>
              <a:rPr lang="en-US" dirty="0">
                <a:solidFill>
                  <a:srgbClr val="0070C0"/>
                </a:solidFill>
              </a:rPr>
              <a:t>column and</a:t>
            </a:r>
            <a:r>
              <a:rPr lang="en-US" dirty="0"/>
              <a:t> store it </a:t>
            </a:r>
            <a:r>
              <a:rPr lang="en-US" dirty="0">
                <a:solidFill>
                  <a:srgbClr val="0070C0"/>
                </a:solidFill>
              </a:rPr>
              <a:t>in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'label_encoders'.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/>
              <a:t>    </a:t>
            </a:r>
            <a:r>
              <a:rPr lang="en-US" dirty="0">
                <a:solidFill>
                  <a:schemeClr val="accent2"/>
                </a:solidFill>
              </a:rPr>
              <a:t> b. </a:t>
            </a:r>
            <a:r>
              <a:rPr lang="en-US" dirty="0"/>
              <a:t>Transform the </a:t>
            </a:r>
            <a:r>
              <a:rPr lang="en-US" dirty="0">
                <a:solidFill>
                  <a:srgbClr val="0070C0"/>
                </a:solidFill>
              </a:rPr>
              <a:t>corresponding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column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in</a:t>
            </a:r>
            <a:r>
              <a:rPr lang="en-US" dirty="0"/>
              <a:t> '</a:t>
            </a:r>
            <a:r>
              <a:rPr lang="en-US" dirty="0">
                <a:solidFill>
                  <a:srgbClr val="00B050"/>
                </a:solidFill>
              </a:rPr>
              <a:t>X' </a:t>
            </a:r>
            <a:r>
              <a:rPr lang="en-US" dirty="0">
                <a:solidFill>
                  <a:srgbClr val="0070C0"/>
                </a:solidFill>
              </a:rPr>
              <a:t>using</a:t>
            </a:r>
            <a:r>
              <a:rPr lang="en-US" dirty="0"/>
              <a:t> the LabelEncoder.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chemeClr val="accent2"/>
                </a:solidFill>
              </a:rPr>
              <a:t>4. </a:t>
            </a:r>
            <a:r>
              <a:rPr lang="en-US" dirty="0"/>
              <a:t>Initialize StandardScaler.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chemeClr val="accent2"/>
                </a:solidFill>
              </a:rPr>
              <a:t>5. </a:t>
            </a:r>
            <a:r>
              <a:rPr lang="en-US" dirty="0"/>
              <a:t>Scale </a:t>
            </a:r>
            <a:r>
              <a:rPr lang="en-US" dirty="0">
                <a:solidFill>
                  <a:srgbClr val="00B050"/>
                </a:solidFill>
              </a:rPr>
              <a:t>'X' </a:t>
            </a:r>
            <a:r>
              <a:rPr lang="en-US" dirty="0">
                <a:solidFill>
                  <a:srgbClr val="0070C0"/>
                </a:solidFill>
              </a:rPr>
              <a:t>using</a:t>
            </a:r>
            <a:r>
              <a:rPr lang="en-US" dirty="0"/>
              <a:t> the scaler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store the </a:t>
            </a:r>
            <a:r>
              <a:rPr lang="en-US" dirty="0">
                <a:solidFill>
                  <a:srgbClr val="0070C0"/>
                </a:solidFill>
              </a:rPr>
              <a:t>result in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'X_scaled’.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chemeClr val="accent2"/>
                </a:solidFill>
              </a:rPr>
              <a:t>6. </a:t>
            </a:r>
            <a:r>
              <a:rPr lang="en-US" dirty="0"/>
              <a:t>Split </a:t>
            </a:r>
            <a:r>
              <a:rPr lang="en-US" dirty="0">
                <a:solidFill>
                  <a:srgbClr val="00B050"/>
                </a:solidFill>
              </a:rPr>
              <a:t>'X_scaled'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'y' </a:t>
            </a:r>
            <a:r>
              <a:rPr lang="en-US" dirty="0">
                <a:solidFill>
                  <a:srgbClr val="0070C0"/>
                </a:solidFill>
              </a:rPr>
              <a:t>into</a:t>
            </a:r>
            <a:r>
              <a:rPr lang="en-US" dirty="0"/>
              <a:t> training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testing sets (</a:t>
            </a:r>
            <a:r>
              <a:rPr lang="en-US" dirty="0">
                <a:solidFill>
                  <a:srgbClr val="FF0000"/>
                </a:solidFill>
              </a:rPr>
              <a:t>80</a:t>
            </a:r>
            <a:r>
              <a:rPr lang="en-US" dirty="0"/>
              <a:t>% train, </a:t>
            </a:r>
            <a:r>
              <a:rPr lang="en-US" dirty="0">
                <a:solidFill>
                  <a:srgbClr val="FF0000"/>
                </a:solidFill>
              </a:rPr>
              <a:t>20</a:t>
            </a:r>
            <a:r>
              <a:rPr lang="en-US" dirty="0"/>
              <a:t>% test).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chemeClr val="accent2"/>
                </a:solidFill>
              </a:rPr>
              <a:t>7. </a:t>
            </a:r>
            <a:r>
              <a:rPr lang="en-US" dirty="0"/>
              <a:t>Reshape </a:t>
            </a:r>
            <a:r>
              <a:rPr lang="en-US" dirty="0">
                <a:solidFill>
                  <a:srgbClr val="00B050"/>
                </a:solidFill>
              </a:rPr>
              <a:t>'X_train'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'X_test' </a:t>
            </a:r>
            <a:r>
              <a:rPr lang="en-US" dirty="0">
                <a:solidFill>
                  <a:srgbClr val="0070C0"/>
                </a:solidFill>
              </a:rPr>
              <a:t>to</a:t>
            </a:r>
            <a:r>
              <a:rPr lang="en-US" dirty="0"/>
              <a:t> be </a:t>
            </a:r>
            <a:r>
              <a:rPr lang="en-US" dirty="0">
                <a:solidFill>
                  <a:srgbClr val="FF0000"/>
                </a:solidFill>
              </a:rPr>
              <a:t>3D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for</a:t>
            </a:r>
            <a:r>
              <a:rPr lang="en-US" dirty="0"/>
              <a:t> LSTM input.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713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A5D00-B1F8-3DC7-2613-4061DFF9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F229-1368-F21A-4B94-097D4E21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6860B-26CB-4054-3A47-5D812C6B0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8. </a:t>
            </a:r>
            <a:r>
              <a:rPr lang="en-US" dirty="0"/>
              <a:t>Initialize an LSTM model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the following layers: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a. </a:t>
            </a:r>
            <a:r>
              <a:rPr lang="en-US" dirty="0"/>
              <a:t>LSTM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/>
              <a:t> units, </a:t>
            </a:r>
            <a:r>
              <a:rPr lang="en-US" dirty="0">
                <a:solidFill>
                  <a:srgbClr val="0070C0"/>
                </a:solidFill>
              </a:rPr>
              <a:t>return</a:t>
            </a:r>
            <a:r>
              <a:rPr lang="en-US" dirty="0"/>
              <a:t> sequences, input shape (</a:t>
            </a:r>
            <a:r>
              <a:rPr lang="en-US" dirty="0">
                <a:solidFill>
                  <a:srgbClr val="FF0000"/>
                </a:solidFill>
              </a:rPr>
              <a:t>1,</a:t>
            </a:r>
            <a:r>
              <a:rPr lang="en-US" dirty="0"/>
              <a:t> number </a:t>
            </a:r>
            <a:r>
              <a:rPr lang="en-US" dirty="0">
                <a:solidFill>
                  <a:srgbClr val="0070C0"/>
                </a:solidFill>
              </a:rPr>
              <a:t>of</a:t>
            </a:r>
            <a:r>
              <a:rPr lang="en-US" dirty="0"/>
              <a:t> features).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</a:t>
            </a:r>
            <a:r>
              <a:rPr lang="en-US" dirty="0">
                <a:solidFill>
                  <a:schemeClr val="accent2"/>
                </a:solidFill>
              </a:rPr>
              <a:t> b. </a:t>
            </a:r>
            <a:r>
              <a:rPr lang="en-US" dirty="0"/>
              <a:t>Dropout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rate </a:t>
            </a:r>
            <a:r>
              <a:rPr lang="en-US" dirty="0">
                <a:solidFill>
                  <a:srgbClr val="FF0000"/>
                </a:solidFill>
              </a:rPr>
              <a:t>0.2.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</a:t>
            </a:r>
            <a:r>
              <a:rPr lang="en-US" dirty="0">
                <a:solidFill>
                  <a:schemeClr val="accent2"/>
                </a:solidFill>
              </a:rPr>
              <a:t> c. </a:t>
            </a:r>
            <a:r>
              <a:rPr lang="en-US" dirty="0"/>
              <a:t>LSTM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/>
              <a:t> units.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d. </a:t>
            </a:r>
            <a:r>
              <a:rPr lang="en-US" dirty="0"/>
              <a:t>Dropout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rate</a:t>
            </a:r>
            <a:r>
              <a:rPr lang="en-US" dirty="0">
                <a:solidFill>
                  <a:srgbClr val="FF0000"/>
                </a:solidFill>
              </a:rPr>
              <a:t> 0.2.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e. </a:t>
            </a:r>
            <a:r>
              <a:rPr lang="en-US" dirty="0"/>
              <a:t>Dense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unit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sigmoid activation.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9. </a:t>
            </a:r>
            <a:r>
              <a:rPr lang="en-US" dirty="0"/>
              <a:t>Compile the model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adam</a:t>
            </a:r>
            <a:r>
              <a:rPr lang="en-US" dirty="0">
                <a:solidFill>
                  <a:srgbClr val="00B050"/>
                </a:solidFill>
              </a:rPr>
              <a:t>' </a:t>
            </a:r>
            <a:r>
              <a:rPr lang="en-US" dirty="0"/>
              <a:t>optimizer, </a:t>
            </a:r>
            <a:r>
              <a:rPr lang="en-US" dirty="0">
                <a:solidFill>
                  <a:srgbClr val="00B050"/>
                </a:solidFill>
              </a:rPr>
              <a:t>'binary_crossentropy' </a:t>
            </a:r>
            <a:r>
              <a:rPr lang="en-US" dirty="0"/>
              <a:t>loss,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'accuracy' </a:t>
            </a:r>
            <a:r>
              <a:rPr lang="en-US" dirty="0"/>
              <a:t>metric.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10. </a:t>
            </a:r>
            <a:r>
              <a:rPr lang="en-US" dirty="0"/>
              <a:t>Train the model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'X_train'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>
                <a:solidFill>
                  <a:srgbClr val="00B050"/>
                </a:solidFill>
              </a:rPr>
              <a:t> 'Y_train' </a:t>
            </a:r>
            <a:r>
              <a:rPr lang="en-US" dirty="0">
                <a:solidFill>
                  <a:srgbClr val="0070C0"/>
                </a:solidFill>
              </a:rPr>
              <a:t>for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/>
              <a:t> epochs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batch size </a:t>
            </a:r>
            <a:r>
              <a:rPr lang="en-US" dirty="0">
                <a:solidFill>
                  <a:srgbClr val="FF0000"/>
                </a:solidFill>
              </a:rPr>
              <a:t>32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20</a:t>
            </a:r>
            <a:r>
              <a:rPr lang="en-US" dirty="0"/>
              <a:t>% validation 	split.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11. </a:t>
            </a:r>
            <a:r>
              <a:rPr lang="en-US" dirty="0"/>
              <a:t>Evaluate the model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'X_test'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'Y_test'.</a:t>
            </a:r>
          </a:p>
        </p:txBody>
      </p:sp>
    </p:spTree>
    <p:extLst>
      <p:ext uri="{BB962C8B-B14F-4D97-AF65-F5344CB8AC3E}">
        <p14:creationId xmlns:p14="http://schemas.microsoft.com/office/powerpoint/2010/main" val="143721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ADF2-2868-C5B2-11AA-CE30E273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B5E2-D5E2-EE35-B813-5665D4CB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BiLSTM </a:t>
            </a:r>
            <a:r>
              <a:rPr lang="en-US" dirty="0"/>
              <a:t>(Bidirectional LSTM)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801A1-3E47-9945-7CB0-541A85C63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1. </a:t>
            </a:r>
            <a:r>
              <a:rPr lang="en-US" dirty="0"/>
              <a:t>Scale </a:t>
            </a:r>
            <a:r>
              <a:rPr lang="en-US" dirty="0">
                <a:solidFill>
                  <a:srgbClr val="00B050"/>
                </a:solidFill>
              </a:rPr>
              <a:t>'x_train' </a:t>
            </a:r>
            <a:r>
              <a:rPr lang="en-US" dirty="0">
                <a:solidFill>
                  <a:srgbClr val="0070C0"/>
                </a:solidFill>
              </a:rPr>
              <a:t>using</a:t>
            </a:r>
            <a:r>
              <a:rPr lang="en-US" dirty="0"/>
              <a:t> a StandardScaler and store the </a:t>
            </a:r>
            <a:r>
              <a:rPr lang="en-US" dirty="0">
                <a:solidFill>
                  <a:srgbClr val="0070C0"/>
                </a:solidFill>
              </a:rPr>
              <a:t>result in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'x_scaled'.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2. </a:t>
            </a:r>
            <a:r>
              <a:rPr lang="en-US" dirty="0"/>
              <a:t>Expand the dimensions </a:t>
            </a:r>
            <a:r>
              <a:rPr lang="en-US" dirty="0">
                <a:solidFill>
                  <a:srgbClr val="0070C0"/>
                </a:solidFill>
              </a:rPr>
              <a:t>of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'x_scaled'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to</a:t>
            </a:r>
            <a:r>
              <a:rPr lang="en-US" dirty="0"/>
              <a:t> make it </a:t>
            </a:r>
            <a:r>
              <a:rPr lang="en-US" dirty="0">
                <a:solidFill>
                  <a:srgbClr val="FF0000"/>
                </a:solidFill>
              </a:rPr>
              <a:t>3D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for</a:t>
            </a:r>
            <a:r>
              <a:rPr lang="en-US" dirty="0"/>
              <a:t> BiLSTM input.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3. </a:t>
            </a:r>
            <a:r>
              <a:rPr lang="en-US" dirty="0"/>
              <a:t>Initialize a BiLSTM model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the following layers: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a. </a:t>
            </a:r>
            <a:r>
              <a:rPr lang="en-US" dirty="0"/>
              <a:t>Bidirectional LSTM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64</a:t>
            </a:r>
            <a:r>
              <a:rPr lang="en-US" dirty="0"/>
              <a:t> units, </a:t>
            </a:r>
            <a:r>
              <a:rPr lang="en-US" dirty="0">
                <a:solidFill>
                  <a:srgbClr val="0070C0"/>
                </a:solidFill>
              </a:rPr>
              <a:t>no return</a:t>
            </a:r>
            <a:r>
              <a:rPr lang="en-US" dirty="0"/>
              <a:t> sequences, input shape (number </a:t>
            </a:r>
            <a:r>
              <a:rPr lang="en-US" dirty="0">
                <a:solidFill>
                  <a:srgbClr val="0070C0"/>
                </a:solidFill>
              </a:rPr>
              <a:t>of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time</a:t>
            </a:r>
            <a:r>
              <a:rPr lang="en-US" dirty="0"/>
              <a:t> 	steps, number </a:t>
            </a:r>
            <a:r>
              <a:rPr lang="en-US" dirty="0">
                <a:solidFill>
                  <a:srgbClr val="0070C0"/>
                </a:solidFill>
              </a:rPr>
              <a:t>of</a:t>
            </a:r>
            <a:r>
              <a:rPr lang="en-US" dirty="0"/>
              <a:t> features).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b. </a:t>
            </a:r>
            <a:r>
              <a:rPr lang="en-US" dirty="0"/>
              <a:t>Dropout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rate </a:t>
            </a:r>
            <a:r>
              <a:rPr lang="en-US" dirty="0">
                <a:solidFill>
                  <a:srgbClr val="FF0000"/>
                </a:solidFill>
              </a:rPr>
              <a:t>0.2.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c. </a:t>
            </a:r>
            <a:r>
              <a:rPr lang="en-US" dirty="0"/>
              <a:t>Dense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unit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sigmoid activation.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4. </a:t>
            </a:r>
            <a:r>
              <a:rPr lang="en-US" dirty="0"/>
              <a:t>Compile the model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adam</a:t>
            </a:r>
            <a:r>
              <a:rPr lang="en-US" dirty="0">
                <a:solidFill>
                  <a:srgbClr val="00B050"/>
                </a:solidFill>
              </a:rPr>
              <a:t>' </a:t>
            </a:r>
            <a:r>
              <a:rPr lang="en-US" dirty="0"/>
              <a:t>optimizer, </a:t>
            </a:r>
            <a:r>
              <a:rPr lang="en-US" dirty="0">
                <a:solidFill>
                  <a:srgbClr val="00B050"/>
                </a:solidFill>
              </a:rPr>
              <a:t>'binary_crossentropy' </a:t>
            </a:r>
            <a:r>
              <a:rPr lang="en-US" dirty="0"/>
              <a:t>loss,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'accuracy' </a:t>
            </a:r>
            <a:r>
              <a:rPr lang="en-US" dirty="0"/>
              <a:t>metric.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5. </a:t>
            </a:r>
            <a:r>
              <a:rPr lang="en-US" dirty="0"/>
              <a:t>Train the model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'x_scaled'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'y_train' </a:t>
            </a:r>
            <a:r>
              <a:rPr lang="en-US" dirty="0">
                <a:solidFill>
                  <a:srgbClr val="0070C0"/>
                </a:solidFill>
              </a:rPr>
              <a:t>for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10</a:t>
            </a:r>
            <a:r>
              <a:rPr lang="en-US" dirty="0"/>
              <a:t> epochs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batch size </a:t>
            </a:r>
            <a:r>
              <a:rPr lang="en-US" dirty="0">
                <a:solidFill>
                  <a:srgbClr val="FF0000"/>
                </a:solidFill>
              </a:rPr>
              <a:t>32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using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'x_test'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	</a:t>
            </a:r>
            <a:r>
              <a:rPr lang="en-US" dirty="0">
                <a:solidFill>
                  <a:srgbClr val="00B050"/>
                </a:solidFill>
              </a:rPr>
              <a:t>'y_test'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validation data.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6. </a:t>
            </a:r>
            <a:r>
              <a:rPr lang="en-US" dirty="0"/>
              <a:t>Evaluate the model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'x_test'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'y_test'.</a:t>
            </a:r>
          </a:p>
        </p:txBody>
      </p:sp>
    </p:spTree>
    <p:extLst>
      <p:ext uri="{BB962C8B-B14F-4D97-AF65-F5344CB8AC3E}">
        <p14:creationId xmlns:p14="http://schemas.microsoft.com/office/powerpoint/2010/main" val="1142630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EE619-804C-01E9-7D83-0AA907C0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922A0-0A24-BB5D-F237-F6EBA761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GAN </a:t>
            </a:r>
            <a:r>
              <a:rPr lang="en-US" dirty="0"/>
              <a:t>(Generative Adversarial Network)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2CA7B-DDDE-9EB8-8403-BEB38386A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1. </a:t>
            </a:r>
            <a:r>
              <a:rPr lang="en-US" dirty="0">
                <a:solidFill>
                  <a:srgbClr val="0070C0"/>
                </a:solidFill>
              </a:rPr>
              <a:t>Define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'build_generator' </a:t>
            </a:r>
            <a:r>
              <a:rPr lang="en-US" dirty="0">
                <a:solidFill>
                  <a:srgbClr val="0070C0"/>
                </a:solidFill>
              </a:rPr>
              <a:t>function to create</a:t>
            </a:r>
            <a:r>
              <a:rPr lang="en-US" dirty="0"/>
              <a:t> a generator model: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a. </a:t>
            </a:r>
            <a:r>
              <a:rPr lang="en-US" dirty="0"/>
              <a:t>Input: latent dimension.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b. </a:t>
            </a:r>
            <a:r>
              <a:rPr lang="en-US" dirty="0"/>
              <a:t>Dense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64</a:t>
            </a:r>
            <a:r>
              <a:rPr lang="en-US" dirty="0"/>
              <a:t> units, LeakyReLU activation (alpha = </a:t>
            </a:r>
            <a:r>
              <a:rPr lang="en-US" dirty="0">
                <a:solidFill>
                  <a:srgbClr val="FF0000"/>
                </a:solidFill>
              </a:rPr>
              <a:t>0.2</a:t>
            </a:r>
            <a:r>
              <a:rPr lang="en-US" dirty="0"/>
              <a:t>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c. </a:t>
            </a:r>
            <a:r>
              <a:rPr lang="en-US" dirty="0"/>
              <a:t>Dense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32</a:t>
            </a:r>
            <a:r>
              <a:rPr lang="en-US" dirty="0"/>
              <a:t> units, LeakyReLU activation (alpha = </a:t>
            </a:r>
            <a:r>
              <a:rPr lang="en-US" dirty="0">
                <a:solidFill>
                  <a:srgbClr val="FF0000"/>
                </a:solidFill>
              </a:rPr>
              <a:t>0.2</a:t>
            </a:r>
            <a:r>
              <a:rPr lang="en-US" dirty="0"/>
              <a:t>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d. </a:t>
            </a:r>
            <a:r>
              <a:rPr lang="en-US" dirty="0"/>
              <a:t>Dense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output dimension, sigmoid activation.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2. </a:t>
            </a:r>
            <a:r>
              <a:rPr lang="en-US" dirty="0">
                <a:solidFill>
                  <a:srgbClr val="0070C0"/>
                </a:solidFill>
              </a:rPr>
              <a:t>Define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'build_discriminator' </a:t>
            </a:r>
            <a:r>
              <a:rPr lang="en-US" dirty="0">
                <a:solidFill>
                  <a:srgbClr val="0070C0"/>
                </a:solidFill>
              </a:rPr>
              <a:t>function to create</a:t>
            </a:r>
            <a:r>
              <a:rPr lang="en-US" dirty="0"/>
              <a:t> a discriminator model: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a. </a:t>
            </a:r>
            <a:r>
              <a:rPr lang="en-US" dirty="0"/>
              <a:t>Input: input dimension.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b. </a:t>
            </a:r>
            <a:r>
              <a:rPr lang="en-US" dirty="0"/>
              <a:t>Dense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64</a:t>
            </a:r>
            <a:r>
              <a:rPr lang="en-US" dirty="0"/>
              <a:t> units, LeakyReLU activation (alpha = </a:t>
            </a:r>
            <a:r>
              <a:rPr lang="en-US" dirty="0">
                <a:solidFill>
                  <a:srgbClr val="FF0000"/>
                </a:solidFill>
              </a:rPr>
              <a:t>0.2</a:t>
            </a:r>
            <a:r>
              <a:rPr lang="en-US" dirty="0"/>
              <a:t>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c. </a:t>
            </a:r>
            <a:r>
              <a:rPr lang="en-US" dirty="0"/>
              <a:t>Dense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32</a:t>
            </a:r>
            <a:r>
              <a:rPr lang="en-US" dirty="0"/>
              <a:t> units, LeakyReLU activation (alpha = </a:t>
            </a:r>
            <a:r>
              <a:rPr lang="en-US" dirty="0">
                <a:solidFill>
                  <a:srgbClr val="FF0000"/>
                </a:solidFill>
              </a:rPr>
              <a:t>0.2</a:t>
            </a:r>
            <a:r>
              <a:rPr lang="en-US" dirty="0"/>
              <a:t>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d. </a:t>
            </a:r>
            <a:r>
              <a:rPr lang="en-US" dirty="0"/>
              <a:t>Dense layer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unit, sigmoid activation.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3. </a:t>
            </a:r>
            <a:r>
              <a:rPr lang="en-US" dirty="0">
                <a:solidFill>
                  <a:srgbClr val="0070C0"/>
                </a:solidFill>
              </a:rPr>
              <a:t>Define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'build_gan' </a:t>
            </a:r>
            <a:r>
              <a:rPr lang="en-US" dirty="0">
                <a:solidFill>
                  <a:srgbClr val="0070C0"/>
                </a:solidFill>
              </a:rPr>
              <a:t>function to</a:t>
            </a:r>
            <a:r>
              <a:rPr lang="en-US" dirty="0"/>
              <a:t> combine generator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discriminator: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</a:t>
            </a:r>
            <a:r>
              <a:rPr lang="en-US" dirty="0">
                <a:solidFill>
                  <a:schemeClr val="accent2"/>
                </a:solidFill>
              </a:rPr>
              <a:t> a. </a:t>
            </a:r>
            <a:r>
              <a:rPr lang="en-US" dirty="0"/>
              <a:t>Freeze discriminator weights.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b. </a:t>
            </a:r>
            <a:r>
              <a:rPr lang="en-US" dirty="0"/>
              <a:t>Combine generator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discriminator </a:t>
            </a:r>
            <a:r>
              <a:rPr lang="en-US" dirty="0">
                <a:solidFill>
                  <a:srgbClr val="0070C0"/>
                </a:solidFill>
              </a:rPr>
              <a:t>in</a:t>
            </a:r>
            <a:r>
              <a:rPr lang="en-US" dirty="0"/>
              <a:t> a sequential model.</a:t>
            </a:r>
          </a:p>
        </p:txBody>
      </p:sp>
    </p:spTree>
    <p:extLst>
      <p:ext uri="{BB962C8B-B14F-4D97-AF65-F5344CB8AC3E}">
        <p14:creationId xmlns:p14="http://schemas.microsoft.com/office/powerpoint/2010/main" val="1692286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E3A7-A662-6D9B-4748-432D6142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43B5-643E-DC04-767B-0A2B4E7F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GAN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BB7A-C21A-A4F7-1045-B98A4D581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37360"/>
            <a:ext cx="10058400" cy="402336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4. </a:t>
            </a:r>
            <a:r>
              <a:rPr lang="en-US" dirty="0"/>
              <a:t>Initialize dimensions, epochs,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batch size.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5. </a:t>
            </a:r>
            <a:r>
              <a:rPr lang="en-US" dirty="0">
                <a:solidFill>
                  <a:srgbClr val="0070C0"/>
                </a:solidFill>
              </a:rPr>
              <a:t>Create</a:t>
            </a:r>
            <a:r>
              <a:rPr lang="en-US" dirty="0"/>
              <a:t> generator, discriminator,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GAN models </a:t>
            </a:r>
            <a:r>
              <a:rPr lang="en-US" dirty="0">
                <a:solidFill>
                  <a:srgbClr val="0070C0"/>
                </a:solidFill>
              </a:rPr>
              <a:t>using</a:t>
            </a:r>
            <a:r>
              <a:rPr lang="en-US" dirty="0"/>
              <a:t> the respective functions.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6. </a:t>
            </a:r>
            <a:r>
              <a:rPr lang="en-US" dirty="0"/>
              <a:t>Compile the discriminator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Adam optimizer, </a:t>
            </a:r>
            <a:r>
              <a:rPr lang="en-US" dirty="0">
                <a:solidFill>
                  <a:srgbClr val="FF0000"/>
                </a:solidFill>
              </a:rPr>
              <a:t>binary</a:t>
            </a:r>
            <a:r>
              <a:rPr lang="en-US" dirty="0"/>
              <a:t> cross entropy loss,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accuracy metric.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7. </a:t>
            </a:r>
            <a:r>
              <a:rPr lang="en-US" dirty="0"/>
              <a:t>Compile the GAN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Adam optimizer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binary</a:t>
            </a:r>
            <a:r>
              <a:rPr lang="en-US" dirty="0"/>
              <a:t> cross entropy loss.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8. </a:t>
            </a:r>
            <a:r>
              <a:rPr lang="en-US" dirty="0">
                <a:solidFill>
                  <a:srgbClr val="0070C0"/>
                </a:solidFill>
              </a:rPr>
              <a:t>For each</a:t>
            </a:r>
            <a:r>
              <a:rPr lang="en-US" dirty="0"/>
              <a:t> epoch (total </a:t>
            </a:r>
            <a:r>
              <a:rPr lang="en-US" dirty="0">
                <a:solidFill>
                  <a:srgbClr val="00B050"/>
                </a:solidFill>
              </a:rPr>
              <a:t>'epochs'</a:t>
            </a:r>
            <a:r>
              <a:rPr lang="en-US" dirty="0"/>
              <a:t>):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a.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random </a:t>
            </a:r>
            <a:r>
              <a:rPr lang="en-US" dirty="0">
                <a:solidFill>
                  <a:srgbClr val="00B050"/>
                </a:solidFill>
              </a:rPr>
              <a:t>'batch_size' </a:t>
            </a:r>
            <a:r>
              <a:rPr lang="en-US" dirty="0">
                <a:solidFill>
                  <a:srgbClr val="FF0000"/>
                </a:solidFill>
              </a:rPr>
              <a:t>real</a:t>
            </a:r>
            <a:r>
              <a:rPr lang="en-US" dirty="0"/>
              <a:t> samples </a:t>
            </a:r>
            <a:r>
              <a:rPr lang="en-US" dirty="0">
                <a:solidFill>
                  <a:srgbClr val="0070C0"/>
                </a:solidFill>
              </a:rPr>
              <a:t>from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'x_train'.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b. </a:t>
            </a:r>
            <a:r>
              <a:rPr lang="en-US" dirty="0"/>
              <a:t>Generate </a:t>
            </a:r>
            <a:r>
              <a:rPr lang="en-US" dirty="0">
                <a:solidFill>
                  <a:srgbClr val="00B050"/>
                </a:solidFill>
              </a:rPr>
              <a:t>'batch_size' </a:t>
            </a:r>
            <a:r>
              <a:rPr lang="en-US" dirty="0"/>
              <a:t>fake samples </a:t>
            </a:r>
            <a:r>
              <a:rPr lang="en-US" dirty="0">
                <a:solidFill>
                  <a:srgbClr val="0070C0"/>
                </a:solidFill>
              </a:rPr>
              <a:t>using</a:t>
            </a:r>
            <a:r>
              <a:rPr lang="en-US" dirty="0"/>
              <a:t> the generator.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c. </a:t>
            </a:r>
            <a:r>
              <a:rPr lang="en-US" dirty="0"/>
              <a:t>Label </a:t>
            </a:r>
            <a:r>
              <a:rPr lang="en-US" dirty="0">
                <a:solidFill>
                  <a:srgbClr val="FF0000"/>
                </a:solidFill>
              </a:rPr>
              <a:t>real</a:t>
            </a:r>
            <a:r>
              <a:rPr lang="en-US" dirty="0"/>
              <a:t> samples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fake samples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d. </a:t>
            </a:r>
            <a:r>
              <a:rPr lang="en-US" dirty="0"/>
              <a:t>Train discriminator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real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fake samples.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2"/>
                </a:solidFill>
              </a:rPr>
              <a:t>     e. </a:t>
            </a:r>
            <a:r>
              <a:rPr lang="en-US" dirty="0"/>
              <a:t>Calculate total discriminator loss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the average </a:t>
            </a:r>
            <a:r>
              <a:rPr lang="en-US" dirty="0">
                <a:solidFill>
                  <a:srgbClr val="0070C0"/>
                </a:solidFill>
              </a:rPr>
              <a:t>of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real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fake losses.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 </a:t>
            </a:r>
            <a:r>
              <a:rPr lang="en-US" dirty="0">
                <a:solidFill>
                  <a:schemeClr val="accent2"/>
                </a:solidFill>
              </a:rPr>
              <a:t>f. </a:t>
            </a:r>
            <a:r>
              <a:rPr lang="en-US" dirty="0"/>
              <a:t>Generate noise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input </a:t>
            </a:r>
            <a:r>
              <a:rPr lang="en-US" dirty="0">
                <a:solidFill>
                  <a:srgbClr val="0070C0"/>
                </a:solidFill>
              </a:rPr>
              <a:t>for</a:t>
            </a:r>
            <a:r>
              <a:rPr lang="en-US" dirty="0"/>
              <a:t> the generator.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    </a:t>
            </a:r>
            <a:r>
              <a:rPr lang="en-US" dirty="0">
                <a:solidFill>
                  <a:schemeClr val="accent2"/>
                </a:solidFill>
              </a:rPr>
              <a:t> g. </a:t>
            </a:r>
            <a:r>
              <a:rPr lang="en-US" dirty="0"/>
              <a:t>Train GAN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noise input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labels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(valid).</a:t>
            </a:r>
          </a:p>
        </p:txBody>
      </p:sp>
    </p:spTree>
    <p:extLst>
      <p:ext uri="{BB962C8B-B14F-4D97-AF65-F5344CB8AC3E}">
        <p14:creationId xmlns:p14="http://schemas.microsoft.com/office/powerpoint/2010/main" val="353293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7AD3-09AF-82BD-FCD6-0E31314D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7D77-ABBF-7C7A-9A21-B5C005DA3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Voting Classifier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5D94F-D8C9-9F7F-9629-588525899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chemeClr val="accent2"/>
                </a:solidFill>
              </a:rPr>
              <a:t>1. </a:t>
            </a:r>
            <a:r>
              <a:rPr lang="en-US" dirty="0"/>
              <a:t>Initialize a VotingClassifier </a:t>
            </a:r>
            <a:r>
              <a:rPr lang="en-US" dirty="0">
                <a:solidFill>
                  <a:srgbClr val="00B050"/>
                </a:solidFill>
              </a:rPr>
              <a:t>'vc_model'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the following </a:t>
            </a:r>
            <a:r>
              <a:rPr lang="en-US" i="1" dirty="0">
                <a:solidFill>
                  <a:srgbClr val="7030A0"/>
                </a:solidFill>
              </a:rPr>
              <a:t>estimators</a:t>
            </a:r>
            <a:r>
              <a:rPr lang="en-US" dirty="0"/>
              <a:t>: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     a. </a:t>
            </a:r>
            <a:r>
              <a:rPr lang="en-US" dirty="0">
                <a:solidFill>
                  <a:srgbClr val="00B050"/>
                </a:solidFill>
              </a:rPr>
              <a:t>‘lstm'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Long Short-Term Memory</a:t>
            </a:r>
            <a:r>
              <a:rPr lang="en-US" dirty="0"/>
              <a:t> model.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     b. </a:t>
            </a:r>
            <a:r>
              <a:rPr lang="en-US" dirty="0">
                <a:solidFill>
                  <a:srgbClr val="00B050"/>
                </a:solidFill>
              </a:rPr>
              <a:t>'dt'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Decision Tree </a:t>
            </a:r>
            <a:r>
              <a:rPr lang="en-US" dirty="0"/>
              <a:t>model.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     c. 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nb</a:t>
            </a:r>
            <a:r>
              <a:rPr lang="en-US" dirty="0">
                <a:solidFill>
                  <a:srgbClr val="00B050"/>
                </a:solidFill>
              </a:rPr>
              <a:t>'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Naive Bayes </a:t>
            </a:r>
            <a:r>
              <a:rPr lang="en-US" dirty="0"/>
              <a:t>model.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i="1" dirty="0"/>
              <a:t>Set voting method to </a:t>
            </a:r>
            <a:r>
              <a:rPr lang="en-US" i="1" dirty="0">
                <a:solidFill>
                  <a:srgbClr val="00B050"/>
                </a:solidFill>
              </a:rPr>
              <a:t>'hard' </a:t>
            </a:r>
            <a:r>
              <a:rPr lang="en-US" i="1" dirty="0"/>
              <a:t>(majority voting).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chemeClr val="accent2"/>
                </a:solidFill>
              </a:rPr>
              <a:t>2. </a:t>
            </a:r>
            <a:r>
              <a:rPr lang="en-US" dirty="0"/>
              <a:t>Train </a:t>
            </a:r>
            <a:r>
              <a:rPr lang="en-US" dirty="0">
                <a:solidFill>
                  <a:srgbClr val="00B050"/>
                </a:solidFill>
              </a:rPr>
              <a:t>'vc_model'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'X_train'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'y_train'.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chemeClr val="accent2"/>
                </a:solidFill>
              </a:rPr>
              <a:t>3. </a:t>
            </a:r>
            <a:r>
              <a:rPr lang="en-US" dirty="0"/>
              <a:t>Predict </a:t>
            </a:r>
            <a:r>
              <a:rPr lang="en-US" dirty="0">
                <a:solidFill>
                  <a:srgbClr val="00B050"/>
                </a:solidFill>
              </a:rPr>
              <a:t>'y_pred_vc'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'X_test' </a:t>
            </a:r>
            <a:r>
              <a:rPr lang="en-US" dirty="0">
                <a:solidFill>
                  <a:srgbClr val="0070C0"/>
                </a:solidFill>
              </a:rPr>
              <a:t>using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'vc_model’.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dirty="0">
              <a:solidFill>
                <a:srgbClr val="00B050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dirty="0">
              <a:solidFill>
                <a:srgbClr val="00B05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F84EA8-1E43-EC1E-6FF0-46CDEFB56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567779"/>
              </p:ext>
            </p:extLst>
          </p:nvPr>
        </p:nvGraphicFramePr>
        <p:xfrm>
          <a:off x="2062480" y="4890833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8226121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269670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904935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93066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511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187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967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50E85-4008-ACFE-ACFA-BAC62523F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Stacking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4CB00-41DB-A571-1C58-CC09CB706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chemeClr val="accent2"/>
                </a:solidFill>
              </a:rPr>
              <a:t>1. </a:t>
            </a:r>
            <a:r>
              <a:rPr lang="en-US" dirty="0"/>
              <a:t>Define base </a:t>
            </a:r>
            <a:r>
              <a:rPr lang="en-US" i="1" dirty="0">
                <a:solidFill>
                  <a:srgbClr val="7030A0"/>
                </a:solidFill>
              </a:rPr>
              <a:t>estimators</a:t>
            </a:r>
            <a:r>
              <a:rPr lang="en-US" dirty="0"/>
              <a:t>: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    </a:t>
            </a:r>
            <a:r>
              <a:rPr lang="en-US" dirty="0">
                <a:solidFill>
                  <a:schemeClr val="accent2"/>
                </a:solidFill>
              </a:rPr>
              <a:t> a. </a:t>
            </a:r>
            <a:r>
              <a:rPr lang="en-US" dirty="0">
                <a:solidFill>
                  <a:srgbClr val="00B050"/>
                </a:solidFill>
              </a:rPr>
              <a:t>'dt'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Decision Tree </a:t>
            </a:r>
            <a:r>
              <a:rPr lang="en-US" dirty="0"/>
              <a:t>model.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chemeClr val="accent2"/>
                </a:solidFill>
              </a:rPr>
              <a:t>     b. 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 err="1">
                <a:solidFill>
                  <a:srgbClr val="00B050"/>
                </a:solidFill>
              </a:rPr>
              <a:t>nb</a:t>
            </a:r>
            <a:r>
              <a:rPr lang="en-US" dirty="0">
                <a:solidFill>
                  <a:srgbClr val="00B050"/>
                </a:solidFill>
              </a:rPr>
              <a:t>'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Naive Bayes </a:t>
            </a:r>
            <a:r>
              <a:rPr lang="en-US" dirty="0"/>
              <a:t>model.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chemeClr val="accent2"/>
                </a:solidFill>
              </a:rPr>
              <a:t>2. </a:t>
            </a:r>
            <a:r>
              <a:rPr lang="en-US" dirty="0"/>
              <a:t>Set </a:t>
            </a:r>
            <a:r>
              <a:rPr lang="en-US" dirty="0">
                <a:solidFill>
                  <a:srgbClr val="00B050"/>
                </a:solidFill>
              </a:rPr>
              <a:t>'fin_est'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Long Short-Term Memory (LSTM)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the </a:t>
            </a:r>
            <a:r>
              <a:rPr lang="en-US" i="1" dirty="0">
                <a:solidFill>
                  <a:srgbClr val="7030A0"/>
                </a:solidFill>
              </a:rPr>
              <a:t>final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i="1" dirty="0">
                <a:solidFill>
                  <a:srgbClr val="7030A0"/>
                </a:solidFill>
              </a:rPr>
              <a:t>estimator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chemeClr val="accent2"/>
                </a:solidFill>
              </a:rPr>
              <a:t>3. </a:t>
            </a:r>
            <a:r>
              <a:rPr lang="en-US" dirty="0"/>
              <a:t>Initialize a StackingClassifier 'sc_model'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</a:t>
            </a:r>
            <a:r>
              <a:rPr lang="en-US" i="1" dirty="0">
                <a:solidFill>
                  <a:srgbClr val="7030A0"/>
                </a:solidFill>
              </a:rPr>
              <a:t>base estimators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'fin_est'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the </a:t>
            </a:r>
            <a:r>
              <a:rPr lang="en-US" i="1" dirty="0">
                <a:solidFill>
                  <a:srgbClr val="7030A0"/>
                </a:solidFill>
              </a:rPr>
              <a:t>final 	estimator</a:t>
            </a:r>
            <a:r>
              <a:rPr lang="en-US" i="1" dirty="0"/>
              <a:t>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chemeClr val="accent2"/>
                </a:solidFill>
              </a:rPr>
              <a:t>4. </a:t>
            </a:r>
            <a:r>
              <a:rPr lang="en-US" dirty="0"/>
              <a:t>Train </a:t>
            </a:r>
            <a:r>
              <a:rPr lang="en-US" dirty="0">
                <a:solidFill>
                  <a:srgbClr val="00B050"/>
                </a:solidFill>
              </a:rPr>
              <a:t>'sc_model'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'X_train' </a:t>
            </a:r>
            <a:r>
              <a:rPr lang="en-US" dirty="0">
                <a:solidFill>
                  <a:srgbClr val="0070C0"/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'y_train'.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chemeClr val="accent2"/>
                </a:solidFill>
              </a:rPr>
              <a:t>5. </a:t>
            </a:r>
            <a:r>
              <a:rPr lang="en-US" dirty="0"/>
              <a:t>Predict</a:t>
            </a:r>
            <a:r>
              <a:rPr lang="en-US" dirty="0">
                <a:solidFill>
                  <a:srgbClr val="00B050"/>
                </a:solidFill>
              </a:rPr>
              <a:t> 'y_pred_sc' </a:t>
            </a:r>
            <a:r>
              <a:rPr lang="en-US" dirty="0">
                <a:solidFill>
                  <a:srgbClr val="0070C0"/>
                </a:solidFill>
              </a:rPr>
              <a:t>on</a:t>
            </a:r>
            <a:r>
              <a:rPr lang="en-US" dirty="0">
                <a:solidFill>
                  <a:srgbClr val="00B050"/>
                </a:solidFill>
              </a:rPr>
              <a:t> 'X_test' </a:t>
            </a:r>
            <a:r>
              <a:rPr lang="en-US" dirty="0">
                <a:solidFill>
                  <a:srgbClr val="0070C0"/>
                </a:solidFill>
              </a:rPr>
              <a:t>using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'sc_model'.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372EDE-A8FB-CE6A-219C-9DAA0D3B5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604621"/>
              </p:ext>
            </p:extLst>
          </p:nvPr>
        </p:nvGraphicFramePr>
        <p:xfrm>
          <a:off x="2062480" y="4890833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8226121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269670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904935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93066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511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187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163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E949-E458-C81B-A2C4-C3ABF3549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299C67-E2D2-7840-3023-AE5C167E5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237" y="1808940"/>
            <a:ext cx="7265525" cy="4218635"/>
          </a:xfrm>
        </p:spPr>
      </p:pic>
    </p:spTree>
    <p:extLst>
      <p:ext uri="{BB962C8B-B14F-4D97-AF65-F5344CB8AC3E}">
        <p14:creationId xmlns:p14="http://schemas.microsoft.com/office/powerpoint/2010/main" val="1548507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56A1-39A6-6BC8-6922-42E1BC78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6C064-C46A-A0CD-CF4A-08412D957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46108" cy="4023360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The </a:t>
            </a:r>
            <a:r>
              <a:rPr lang="en-US" sz="2200" b="1" dirty="0"/>
              <a:t>Stacking</a:t>
            </a:r>
            <a:r>
              <a:rPr lang="en-US" sz="2200" dirty="0"/>
              <a:t> and </a:t>
            </a:r>
            <a:r>
              <a:rPr lang="en-US" sz="2200" b="1" dirty="0"/>
              <a:t>Voting</a:t>
            </a:r>
            <a:r>
              <a:rPr lang="en-US" sz="2200" dirty="0"/>
              <a:t> Classifiers led with the highest accuracy of 0.95, showcasing the power of ensemble methods in combining multiple models to enhance predictive performance, particularly in handling complex and noisy datasets.</a:t>
            </a:r>
          </a:p>
          <a:p>
            <a:pPr algn="just"/>
            <a:r>
              <a:rPr lang="en-US" sz="2200" b="1" dirty="0"/>
              <a:t>LSTM</a:t>
            </a:r>
            <a:r>
              <a:rPr lang="en-US" sz="2200" dirty="0"/>
              <a:t> followed closely with 0.93 accuracy. LSTM excelled due to its ability to capture temporal patterns in sequential data, making it ideal for time-series tasks like medical recordings. </a:t>
            </a:r>
          </a:p>
          <a:p>
            <a:pPr algn="just"/>
            <a:r>
              <a:rPr lang="en-US" sz="2200" b="1" dirty="0"/>
              <a:t>Bidirectional LSTM</a:t>
            </a:r>
            <a:r>
              <a:rPr lang="en-US" sz="2200" dirty="0"/>
              <a:t> scored 0.79. It struggled with feature scaling and noise, a common issue in medical audio datasets. It faced challenges like overfitting.</a:t>
            </a:r>
          </a:p>
          <a:p>
            <a:pPr algn="just"/>
            <a:r>
              <a:rPr lang="en-US" sz="2200" b="1" dirty="0"/>
              <a:t>GAN</a:t>
            </a:r>
            <a:r>
              <a:rPr lang="en-US" sz="2200" dirty="0"/>
              <a:t> had the lowest accuracy, suggesting a need for adjustments or alternative approaches for medical diagnosis tasks.</a:t>
            </a:r>
          </a:p>
        </p:txBody>
      </p:sp>
    </p:spTree>
    <p:extLst>
      <p:ext uri="{BB962C8B-B14F-4D97-AF65-F5344CB8AC3E}">
        <p14:creationId xmlns:p14="http://schemas.microsoft.com/office/powerpoint/2010/main" val="2815826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25FC-0016-5173-6C59-4E2EFD95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6C0C0-E29F-616A-E77A-6BF570BD0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[1] Organization, W. H. et al. A vision for primary health care in the 21st century: towards universal health coverage and the sustainable development goals (World Health Organization, Tech. Rep., 2018).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[2] Yue, H., He, C., Huang, Q., Yin, D. &amp; Bryan, B. A. Stronger policy required to substantially reduce deaths from pm2. 5 pollution in China. Nat. Commun. 11(1), 1462 (2020).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[3] Organization, W.H. National cancer control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programmes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Policies and managerial guidelines. World Health Organization, (2002).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[4] Hamann, H. A., Ver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Hoeve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E. S., Carter-Harris, L.,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Studts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J. L. &amp;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Ostrof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J. S. Multilevel opportunities to address lung cancer stigma across the cancer control continuum. J.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Toracic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Oncol. 13(8), 1062–1075 (2018).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[5] Valentine, T. R., Presley, C. J., Carbone, D. P., Shields, P. G. &amp; Andersen, B. L. Illness perception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profles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psychological and physical symptoms in newly diagnosed advanced non-small cell lung cancer. Health Psychol. 41(6), 379 (2022).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[6] Maurya, S.P.,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Ohri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A., &amp; Gaur, S. Relevance of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spatio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-temporal data visualization techniques in healthcare system. in Geospatial Data Science in Healthcare for Society 5.0. Springer, 59–78 (2022). </a:t>
            </a:r>
          </a:p>
        </p:txBody>
      </p:sp>
    </p:spTree>
    <p:extLst>
      <p:ext uri="{BB962C8B-B14F-4D97-AF65-F5344CB8AC3E}">
        <p14:creationId xmlns:p14="http://schemas.microsoft.com/office/powerpoint/2010/main" val="487868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55E7-B489-739E-6586-87A7CB942D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8082319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923</TotalTime>
  <Words>1946</Words>
  <Application>Microsoft Office PowerPoint</Application>
  <PresentationFormat>Widescreen</PresentationFormat>
  <Paragraphs>181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Calibri Light</vt:lpstr>
      <vt:lpstr>Times New Roman</vt:lpstr>
      <vt:lpstr>Retrospect</vt:lpstr>
      <vt:lpstr>PowerPoint Presentation</vt:lpstr>
      <vt:lpstr>Outline</vt:lpstr>
      <vt:lpstr>Introduction</vt:lpstr>
      <vt:lpstr>Motivation</vt:lpstr>
      <vt:lpstr>Literature Review</vt:lpstr>
      <vt:lpstr>Computational Model</vt:lpstr>
      <vt:lpstr>LSTM (Long Short-Term Memory)</vt:lpstr>
      <vt:lpstr>LSTM cont.</vt:lpstr>
      <vt:lpstr>BiLSTM (Bidirectional LSTM)</vt:lpstr>
      <vt:lpstr>GAN (Generative Adversarial Network)</vt:lpstr>
      <vt:lpstr>GAN cont.</vt:lpstr>
      <vt:lpstr>Voting Classifier</vt:lpstr>
      <vt:lpstr>Stacking Classifier</vt:lpstr>
      <vt:lpstr>Confusion Matrices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GP 7</dc:creator>
  <cp:lastModifiedBy>GP 7</cp:lastModifiedBy>
  <cp:revision>43</cp:revision>
  <dcterms:created xsi:type="dcterms:W3CDTF">2024-12-09T13:27:29Z</dcterms:created>
  <dcterms:modified xsi:type="dcterms:W3CDTF">2024-12-10T15:53:58Z</dcterms:modified>
</cp:coreProperties>
</file>